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C2CA0CF-A3B0-4C82-BFF4-2745FAD83C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8E9527-6461-4E8C-8072-0878B79695A9}"/>
              </a:ext>
            </a:extLst>
          </p:cNvPr>
          <p:cNvSpPr>
            <a:spLocks noGrp="1"/>
          </p:cNvSpPr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8D0853D-EE74-4212-BB22-13729589BD87}"/>
              </a:ext>
            </a:extLst>
          </p:cNvPr>
          <p:cNvSpPr>
            <a:spLocks noGrp="1"/>
          </p:cNvSpPr>
          <p:nvPr/>
        </p:nvSpPr>
        <p:spPr>
          <a:xfrm>
            <a:off x="742950" y="90487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HTML NA PRÁTICA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08B32C-8C6A-4075-B61B-274183EA8E97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647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Tags HTML:</a:t>
            </a:r>
          </a:p>
          <a:p>
            <a:pPr algn="l"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conceitos, usos e exemplos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8C8A123-599E-4DE6-AE73-02BF234D3E63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Uma aula visual para construir páginas bem estruturadas, semânticas e acessíveis.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8146F0B-67F7-43F7-8CF1-53991CEF8239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429000" cy="18097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BCF059-22ED-412A-89CE-E0FD169BBF7F}"/>
              </a:ext>
            </a:extLst>
          </p:cNvPr>
          <p:cNvSpPr>
            <a:spLocks noGrp="1"/>
          </p:cNvSpPr>
          <p:nvPr/>
        </p:nvSpPr>
        <p:spPr>
          <a:xfrm>
            <a:off x="8305800" y="2114550"/>
            <a:ext cx="3009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PRIMEIRO CONTATO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079F37-45C3-44DA-B023-4EBC09D30C4F}"/>
              </a:ext>
            </a:extLst>
          </p:cNvPr>
          <p:cNvSpPr>
            <a:spLocks noGrp="1"/>
          </p:cNvSpPr>
          <p:nvPr/>
        </p:nvSpPr>
        <p:spPr>
          <a:xfrm>
            <a:off x="8305800" y="2419350"/>
            <a:ext cx="30099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&lt;h1&gt;Aprenda HTML&lt;/h1&gt;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&lt;p&gt;Estruture ideias para a Web.&lt;/p&gt;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110FF8-1B83-4AFA-9A64-CD325CD784E6}"/>
              </a:ext>
            </a:extLst>
          </p:cNvPr>
          <p:cNvSpPr>
            <a:spLocks noGrp="1"/>
          </p:cNvSpPr>
          <p:nvPr/>
        </p:nvSpPr>
        <p:spPr>
          <a:xfrm>
            <a:off x="742950" y="595312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Fundamentos + exemplos + exercícios</a:t>
            </a:r>
          </a:p>
        </p:txBody>
      </p:sp>
    </p:spTree>
    <p:extLst>
      <p:ext uri="{BB962C8B-B14F-4D97-AF65-F5344CB8AC3E}">
        <p14:creationId xmlns:p14="http://schemas.microsoft.com/office/powerpoint/2010/main" val="28522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36CE09C1-B76F-47D0-815B-15C3C12266EE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B6ADD08-9414-4DEF-957D-B8397F6D2091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Uma tag marca a função de cada conteúdo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C3792B0-1BE8-41DE-B3EF-FE49939BEA23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2D62F29-0570-44D7-8BC4-758AA7D469C1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4628450-F239-4464-8B0E-8AB9C77B4385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Forma geral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C94E4B7-8707-4A19-8904-EAA1E011B1A2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857750" cy="21907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0C29159-FFD5-4C3B-8569-6B40CB8B6E3F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443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AE16C0-A308-4D6A-98CE-36881956EFD3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44386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&lt;tag atributo="valor"&gt;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Conteúdo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&lt;/tag&gt;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B883639-FE5E-475C-BC6C-3F72DD012CF8}"/>
              </a:ext>
            </a:extLst>
          </p:cNvPr>
          <p:cNvSpPr>
            <a:spLocks noGrp="1"/>
          </p:cNvSpPr>
          <p:nvPr/>
        </p:nvSpPr>
        <p:spPr>
          <a:xfrm>
            <a:off x="6096000" y="16668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Três partes para observar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B344871-DAF5-4C8A-B76B-094BC673B699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28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CD577EE-EE7E-4BBF-971E-59A6B30AAF6F}"/>
              </a:ext>
            </a:extLst>
          </p:cNvPr>
          <p:cNvSpPr>
            <a:spLocks noGrp="1"/>
          </p:cNvSpPr>
          <p:nvPr/>
        </p:nvSpPr>
        <p:spPr>
          <a:xfrm>
            <a:off x="6381750" y="2095500"/>
            <a:ext cx="4667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Abertura: &lt;p&gt;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A1D91B8-0F5E-478B-BFDC-9E07DE7C5B49}"/>
              </a:ext>
            </a:extLst>
          </p:cNvPr>
          <p:cNvSpPr>
            <a:spLocks noGrp="1"/>
          </p:cNvSpPr>
          <p:nvPr/>
        </p:nvSpPr>
        <p:spPr>
          <a:xfrm>
            <a:off x="6096000" y="2714625"/>
            <a:ext cx="228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7246FE6-47A2-4AED-BADB-0C68B6D89476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4667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Conteúdo: texto, imagem ou outras tags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72CCED-231E-4BB6-A12D-2ED98D3A464B}"/>
              </a:ext>
            </a:extLst>
          </p:cNvPr>
          <p:cNvSpPr>
            <a:spLocks noGrp="1"/>
          </p:cNvSpPr>
          <p:nvPr/>
        </p:nvSpPr>
        <p:spPr>
          <a:xfrm>
            <a:off x="6096000" y="3333750"/>
            <a:ext cx="228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1691C67-A497-4EEA-A07F-6103DB3508A7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4667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Fechamento: &lt;/p&gt;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8F7C9EC-FF4A-45D8-AA89-1C5498C239EF}"/>
              </a:ext>
            </a:extLst>
          </p:cNvPr>
          <p:cNvSpPr>
            <a:spLocks noGrp="1"/>
          </p:cNvSpPr>
          <p:nvPr/>
        </p:nvSpPr>
        <p:spPr>
          <a:xfrm>
            <a:off x="6096000" y="3952875"/>
            <a:ext cx="228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CF5E6D-A9A1-4101-BEA5-CF2B691CEA7F}"/>
              </a:ext>
            </a:extLst>
          </p:cNvPr>
          <p:cNvSpPr>
            <a:spLocks noGrp="1"/>
          </p:cNvSpPr>
          <p:nvPr/>
        </p:nvSpPr>
        <p:spPr>
          <a:xfrm>
            <a:off x="6381750" y="3952875"/>
            <a:ext cx="4667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Atributos acrescentam informações à tag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AC8C4DC-4EC5-418F-B910-6C9A537BF8C2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103822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B04CF97-9CA2-4E1A-B12A-635A9A080EBD}"/>
              </a:ext>
            </a:extLst>
          </p:cNvPr>
          <p:cNvSpPr>
            <a:spLocks noGrp="1"/>
          </p:cNvSpPr>
          <p:nvPr/>
        </p:nvSpPr>
        <p:spPr>
          <a:xfrm>
            <a:off x="895350" y="49053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Algumas tags são vazias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C2317D6-16BF-4183-A7EC-063E5916F6EF}"/>
              </a:ext>
            </a:extLst>
          </p:cNvPr>
          <p:cNvSpPr>
            <a:spLocks noGrp="1"/>
          </p:cNvSpPr>
          <p:nvPr/>
        </p:nvSpPr>
        <p:spPr>
          <a:xfrm>
            <a:off x="895350" y="521970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&lt;img&gt;, &lt;br&gt;, &lt;hr&gt; e &lt;input&gt; não envolvem um conteúdo entre abertura e fechamento.</a:t>
            </a:r>
          </a:p>
        </p:txBody>
      </p:sp>
    </p:spTree>
    <p:extLst>
      <p:ext uri="{BB962C8B-B14F-4D97-AF65-F5344CB8AC3E}">
        <p14:creationId xmlns:p14="http://schemas.microsoft.com/office/powerpoint/2010/main" val="150592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6680C81-A67E-4A5B-A09B-C4FE569A54AB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E1D359A-772A-49D0-915A-C4C731DD5692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estrutura básica organiza todo o documento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098A757-706F-4A85-938D-6FEAE5FD4F17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7EBD5C2-5503-4966-B8B8-1F137C42289E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5B63DD5-5817-47BF-8DA9-5B0434808DBB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C00635-470C-4F80-A28C-1D39A192194D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52BF296-2840-47E1-AC65-B57D8E52307A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 &lt;!DOCTYPE html&gt; ativa o padrão HTML5.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BB094D-7471-4EA5-B705-536A14978CED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0E3B361-C7D4-40F1-9F6B-C9F76C97D43D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 &lt;html&gt; envolve o documento e lang informa o idioma.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217D30-7B65-459B-AA37-5196ECC7BF04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0F9B2EF-DAE8-4733-8803-7ED8EF8059ED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 &lt;head&gt; contém configurações não exibidas no corpo.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E6F7A4F-52F1-4E0F-951D-57F52B9DCF34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87B1835-04D2-46CD-813B-013F596FB540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 &lt;body&gt; reúne tudo o que aparece na página.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917222A-8515-4870-BDE3-E0FCEE72C86B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E1DA52E-8219-4216-8BBB-B625479F9CD7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5F7091F-0936-4002-8301-C2CF98180B6C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&lt;!DOCTYPE html&gt;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&lt;html lang="pt-BR"&gt;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&lt;head&gt;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&lt;meta charset="UTF-8"&gt;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&lt;title&gt;Minha página&lt;/title&gt;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&lt;/head&gt;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&lt;body&gt;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&lt;h1&gt;Olá!&lt;/h1&gt;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&lt;/body&gt;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&lt;/html&gt;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F9995BE-C4B0-48FE-A9EF-B5D844EB7B44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F530DD2-375F-48FA-9752-33166048E904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06C7008-5393-4E28-B460-16C1627273DA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Use esta estrutura como ponto de partida de todo arquivo .html.</a:t>
            </a:r>
          </a:p>
        </p:txBody>
      </p:sp>
    </p:spTree>
    <p:extLst>
      <p:ext uri="{BB962C8B-B14F-4D97-AF65-F5344CB8AC3E}">
        <p14:creationId xmlns:p14="http://schemas.microsoft.com/office/powerpoint/2010/main" val="26053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B73CE60-3ECE-4CCF-8548-E33873A76BEE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255A53D-08A4-4DE5-B5AA-E7E73481B5B5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&lt;head&gt;, &lt;meta&gt; e &lt;title&gt; configuram a página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03ECFC-2E6D-41C6-9A88-0781F885E846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AE4C74-62AF-4987-BDEC-52A379C088B3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A895844-BE94-47A4-9C52-600068878E7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199297-FED1-4115-A006-63B1B16C4A5F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D4657D6-8D42-4D01-B129-C3BC5F0AE066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&lt;head&gt;: informações para navegador e mecanismos de busca.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F429C3A-DAF1-48CA-AE84-7FF37BF48C13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557BAC1-E775-4892-868D-27B0585005EB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&lt;meta charset&gt;: permite acentos e caracteres especiais.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6C284C-12BE-4C77-8886-2F7232A08475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95817C2-C6FB-4566-A3B2-62406F57BDB6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viewport: adapta a página a celulares e tablets.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5A4A9BC-47ED-427C-9929-FAC7B1603977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58583DA-8875-413D-B5FF-9D097E405FDF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&lt;title&gt;: texto mostrado na aba do navegador.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AE180E6-B08F-44B5-9B6D-DB1570D34F1B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BC37E87-F371-4292-BBDD-8608725823D2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3F216DA-9109-4509-9159-066B316C2A50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&lt;head&gt;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&lt;meta charset="UTF-8"&gt;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&lt;meta name="viewport"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  content="width=device-width,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  initial-scale=1.0"&gt;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&lt;title&gt;Portal do Aluno&lt;/title&gt;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&lt;/head&gt;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49DC65-CD27-4A2D-B4BF-79C723A08AAF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E537D50-63EB-4A9B-B93F-1C1F90E0E0C7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DFF25AA-DA54-48FD-99DC-E743B95E1D8F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Essas tags ficam dentro de &lt;head&gt;; não são o conteúdo principal visível.</a:t>
            </a:r>
          </a:p>
        </p:txBody>
      </p:sp>
    </p:spTree>
    <p:extLst>
      <p:ext uri="{BB962C8B-B14F-4D97-AF65-F5344CB8AC3E}">
        <p14:creationId xmlns:p14="http://schemas.microsoft.com/office/powerpoint/2010/main" val="17120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E0E5F3FA-9578-4EA3-A5EF-175980A158ED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5EEC04-3EC3-439A-825B-4AA29FA0A965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&lt;h1&gt; a &lt;h6&gt; criam uma hierarquia de títulos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23622D7-1E4E-4FF9-99C4-EDAB8FE4BF3C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2408B9-8D2E-4236-834B-8EFE2BF02810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563BE1-C6E2-4FB4-B679-6EFDBF2EDA5D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6EA0F42-9B0D-420E-92F8-7DB128F1FF1D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BBA25FE-5376-4A84-8C78-A8D005464AF1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&lt;h1&gt;: assunto principal; normalmente um por página.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DC84D0-BC61-4406-A24E-B8F771346940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CE0ED1-61E6-4F5A-90DD-C99FD68DB19E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&lt;h2&gt;: grande seção do conteúdo.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F46B3C4-08B5-4E16-8C1C-A91D233AABBB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1785147-4569-483D-9B15-477DC927CF7D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&lt;h3&gt;: subseção de um &lt;h2&gt;.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26F444-8BC1-4931-AED5-567ED9C8A362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377950F-F855-40A9-A98E-654DB6458A7A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&lt;h4&gt; a &lt;h6&gt;: níveis progressivamente mais específicos.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D792E3B-7DCC-40E6-8F16-D0CA8CBEB1D6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2112AEF-F910-42D8-9E93-4C4FEC06E961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35D9315-D833-458A-9CA6-9DB3B122E170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&lt;h1&gt;Desenvolvimento Web&lt;/h1&gt;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&lt;h2&gt;HTML&lt;/h2&gt;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&lt;h3&gt;Tags de texto&lt;/h3&gt;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&lt;h2&gt;CSS&lt;/h2&gt;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&lt;h3&gt;Seletores&lt;/h3&gt;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3E55CD2-49A4-4D39-8347-6E59B0C25AAC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455745F-9F65-4FFF-8B7D-37D3E00B2481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B6BEF1F-3CA3-4425-9E76-DF344BF7F83A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Escolha pelo nível lógico, e não apenas pelo tamanho visual.</a:t>
            </a:r>
          </a:p>
        </p:txBody>
      </p:sp>
    </p:spTree>
    <p:extLst>
      <p:ext uri="{BB962C8B-B14F-4D97-AF65-F5344CB8AC3E}">
        <p14:creationId xmlns:p14="http://schemas.microsoft.com/office/powerpoint/2010/main" val="39814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777CBD44-0E39-4D3C-AC92-0A517D949603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A844741-F66D-43FA-B09B-6B5A4C94977D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&lt;p&gt;, &lt;br&gt; e &lt;hr&gt; controlam blocos e separações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23557B0-AB22-48A8-99C7-9937A7E29416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3D85BF7-45BC-4CF0-9082-49663C403F4C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48738F1-BEBE-45E2-911E-B0E48571DE74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46C1257-87F1-4341-93FD-9F792AEB35B9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1A23EA-FC86-463C-82BA-5F4A0C581318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&lt;p&gt; cria um parágrafo completo.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33241B-1F68-4940-AE4F-32FC25BAF61B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3B956F0-672B-4C69-91F3-9A987EE8F727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&lt;br&gt; quebra uma linha dentro do mesmo bloco.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C3A5E27-CDC1-465C-B64F-222C534E2B23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3D93BE5-54C1-4DC6-9297-9F01D66255B6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&lt;hr&gt; indica mudança ou separação temática.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AB8140C-EFEE-4430-9421-884F2E60D207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ECCC2D6-A6E8-4AE3-86EC-C2C0E6814767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Parágrafos diferentes devem usar tags &lt;p&gt; diferentes.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8447E96-AACD-46E6-9F5C-09C83CBD48D3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EAA42A3-F210-41DC-9A12-D9D8459587AA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0A3AE6D-18B2-4EB1-94BF-3B25B713AAE6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&lt;p&gt;HTML estrutura a página.&lt;/p&gt;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&lt;p&gt;CSS define sua aparência.&lt;/p&gt;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&lt;p&gt;Salvador&lt;br&gt;Bahia&lt;br&gt;Brasil&lt;/p&gt;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&lt;hr&gt;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&lt;p&gt;Próximo assunto&lt;/p&gt;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9D05A98-56B9-4A68-8CB7-0487F68F72CF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504883B-2170-4ABC-8C5A-4059F088E07D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8679F68-4F05-44F4-B558-70FBE4BCA85F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Não use vários &lt;br&gt; para criar espaçamento; essa tarefa pertence ao CSS.</a:t>
            </a:r>
          </a:p>
        </p:txBody>
      </p:sp>
    </p:spTree>
    <p:extLst>
      <p:ext uri="{BB962C8B-B14F-4D97-AF65-F5344CB8AC3E}">
        <p14:creationId xmlns:p14="http://schemas.microsoft.com/office/powerpoint/2010/main" val="815605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1A1447CB-147F-4848-8238-109EFB12D78D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99531B3-D410-4DB9-9A18-DB01AA2461E3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Tags de ênfase acrescentam significado ao texto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70F6D0C-E2E2-4763-9BFF-3B721B7D0CD6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6D5758-2A6D-4F99-919A-2D64CB06B706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8C52C1-1EA6-4C4C-84A1-2396B75151C6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437FD13-2412-400B-A86B-576E4D381728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CFCFB17-CD27-44D3-82D4-3DB017C6995F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&lt;strong&gt; marca conteúdo importante.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C55752B-2323-4AEE-9985-3B66E1D51DB0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6014E92-3A00-4452-9130-2A7515DD2B20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&lt;em&gt; dá ênfase à expressão.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53ED440-7331-4BFA-8746-1E21FD3EE98B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8C42160-CFB0-43B3-A0E9-1B7078D8075E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&lt;mark&gt; destaca um trecho relevante.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C5EAFA0-D4C9-4249-BF53-1D1749D3081F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9B4D0A0-4357-4852-9BD6-28AC6EDBB46D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&lt;small&gt; apresenta nota ou informação secundária.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D38754D-0D8F-4E49-86B7-96F0FBBDB9FB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C3DDD1-9896-4590-B473-F80DD2A846FC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F5754A4-E544-4047-AD45-AD92483DFF5D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&lt;p&gt;&lt;strong&gt;Atenção:&lt;/strong&gt; salve.&lt;/p&gt;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&lt;p&gt;HTML é uma linguagem de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&lt;em&gt;marcação&lt;/em&gt;.&lt;/p&gt;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&lt;p&gt;Entrega: &lt;mark&gt;segunda-feira&lt;/mark&gt;.&lt;/p&gt;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&lt;small&gt;Atualizado em 2026.&lt;/small&gt;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B7CCB29-B90E-43F4-8A09-4433DD499333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3DA3A1D-5F9A-4A27-889A-E2209D34C469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90ED8D0-3B62-4347-9992-D734DEE8B20F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Prefira &lt;strong&gt; e &lt;em&gt; quando houver significado, não somente aparência.</a:t>
            </a:r>
          </a:p>
        </p:txBody>
      </p:sp>
    </p:spTree>
    <p:extLst>
      <p:ext uri="{BB962C8B-B14F-4D97-AF65-F5344CB8AC3E}">
        <p14:creationId xmlns:p14="http://schemas.microsoft.com/office/powerpoint/2010/main" val="39481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9C1EF89D-9973-4DA9-ABF2-40F9E87FADD4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9263C0F-B938-4293-A0B7-21D17CB1EC83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&lt;del&gt;, &lt;ins&gt;, &lt;sub&gt; e &lt;sup&gt; representam alterações e notações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FF867D3-C28B-4019-A301-64742EF19CF7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69AE23-E089-483E-9067-2BE43C340679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42CBA66-4D2D-46FC-9699-23047214CAB7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D4C391B-14B9-4D73-9714-48D991E1379B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319E61C-5599-4549-9079-34F6C866310B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&lt;del&gt; mostra conteúdo removido ou substituído.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EF02456-A25B-49E2-888D-5352CAAA4876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2312702-1FD4-45D6-966B-EBEF49BC0F98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&lt;ins&gt; identifica conteúdo acrescentado.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5B11B0F-64A1-436C-ADCB-8C5373DF745E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D8614FA-417F-4644-8A7A-356157826E78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&lt;sub&gt; cria texto subscrito, útil em fórmulas.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FDD131-D5CE-4C96-BEB7-0EFE1B3FB5BC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DB668DA-1C94-4A9B-9411-140129129B2C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&lt;sup&gt; cria sobrescrito, útil em potências e notas.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2FFEBBD-6D0B-4BD1-9B8F-62EEED79B1C1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FE4878B-FA28-425C-944D-AB5B94200BAF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DF805E2-5DF7-444B-9F81-70ADBB932A32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&lt;p&gt;Antes: &lt;del&gt;R$ 200&lt;/del&gt;&lt;/p&gt;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&lt;p&gt;Agora: &lt;ins&gt;R$ 150&lt;/ins&gt;&lt;/p&gt;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&lt;p&gt;Água: H&lt;sub&gt;2&lt;/sub&gt;O&lt;/p&gt;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&lt;p&gt;Potência: 2&lt;sup&gt;3&lt;/sup&gt; = 8&lt;/p&gt;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B3A7AC9-E0A6-4B89-9582-309474CCBAA9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53170EE-E86F-49C2-A3F4-9E1162D56529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F025E90-ADAF-4209-AC10-2DB10A8D66AB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Essas tags comunicam o papel do trecho, inclusive para tecnologias assistivas.</a:t>
            </a:r>
          </a:p>
        </p:txBody>
      </p:sp>
    </p:spTree>
    <p:extLst>
      <p:ext uri="{BB962C8B-B14F-4D97-AF65-F5344CB8AC3E}">
        <p14:creationId xmlns:p14="http://schemas.microsoft.com/office/powerpoint/2010/main" val="186820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5D564E6-E6F7-4E08-8497-1419815F82B1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AAA568-930A-4990-B50E-84EFDA33729C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&lt;a&gt; conecta páginas, arquivos, seções e contatos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68ACAAB-2086-4C95-96E2-93F0CBFBA7D9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50F6AF7-727F-4EFF-AC66-89B3BA4D80D8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28AC4A-F45D-43AC-8027-56AC63BE0CC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9C7C902-B673-4ABF-8620-9FBA8CC1EA8A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F4E4C9D-EF47-4AE0-AA0E-D62516077A9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href informa o destino do link.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A48BCC6-4B3D-4668-BEA2-E938B4BFDD05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2966A8-C961-46E0-A0DF-17D8047D070C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target="_blank" abre o destino em outra aba.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F81A5F9-5865-4FE7-9551-949FA72442FC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B5514E1-D954-4D74-94E2-F1A981914070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Um caminho relativo aponta para arquivo do projeto.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CC9DB06-0F67-4391-BC9E-B20C946563DB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AE142AA-4607-4D9A-8115-40287CE7E083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mailto: inicia uma mensagem de e-mail.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5D9803B-3708-4A9D-A4B3-1336D30A3C5C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1566786-4615-4C55-A826-CDFBF339E46A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F0D5048-5631-435B-B34F-4274427D40B6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&lt;a href="cursos.html"&gt;Cursos&lt;/a&gt;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&lt;a href="https://example.com"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target="_blank"&gt;Visitar site&lt;/a&gt;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&lt;a href="#contato"&gt;Ir ao contato&lt;/a&gt;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&lt;a href="mailto:prof@exemplo.com"&gt;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Enviar e-mail&lt;/a&gt;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9D0F466-3F34-46E4-A8FE-624A7A3E1128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A5DC4E3-1B9F-40D8-A7AA-8AB21DF21E29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3412559-BC3C-4CCD-9528-023F00CB9284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 texto do link deve explicar o destino; evite “clique aqui”.</a:t>
            </a:r>
          </a:p>
        </p:txBody>
      </p:sp>
    </p:spTree>
    <p:extLst>
      <p:ext uri="{BB962C8B-B14F-4D97-AF65-F5344CB8AC3E}">
        <p14:creationId xmlns:p14="http://schemas.microsoft.com/office/powerpoint/2010/main" val="1817676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9D76FD0-6A25-49F7-9A96-F051A5BD8267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D56A3C7-6A7D-439B-A0FD-FB0D095F734E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&lt;img&gt; insere imagem com descrição acessível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5894684-CDAB-453F-9645-F90B75A1DC4C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BDA69C-ACB0-4773-884A-ED2A6D9125A3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58D5796-4FD8-48CC-BC4B-52B9220C4FAA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CCBD200-6449-4695-95FD-E01E3DAF54A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12E726A-D134-4FAD-B74F-928745B71D4E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src informa o endereço ou caminho da imagem.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EA87FF3-2C07-4914-B65D-F6CEB308B2AA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8A232DF-9B99-4E56-861D-2CD224837478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alt descreve o conteúdo e a finalidade.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3C0A57F-E93E-4579-A291-E0041868275D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B3676CB-3064-4A87-A215-EE458C2C8554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width e height podem indicar dimensões.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C484D27-55F8-47E3-A312-534C590A3639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1C3DF0B-71F2-4B90-88F7-6A210397B0B5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 tag não possui fechamento.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747525A-7E5D-4AFA-B19D-FCCD9BD4CE01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42340CB-83CB-4DA9-BCB3-42DB23E65B43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7A3D508-7D39-4557-A6A5-7D6636F7041B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&lt;img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src="imagens/html.png"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alt="Logotipo da linguagem HTML"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width="300"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84C8604-D73D-4A40-8ECE-577B7A19F7B2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8ACD6D5-1BE9-49BD-8EFE-E1C9AA103005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85E2FE4-FA7E-4A27-9712-49F386BE152A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Um bom alt permite compreender a imagem mesmo quando ela não aparece.</a:t>
            </a:r>
          </a:p>
        </p:txBody>
      </p:sp>
    </p:spTree>
    <p:extLst>
      <p:ext uri="{BB962C8B-B14F-4D97-AF65-F5344CB8AC3E}">
        <p14:creationId xmlns:p14="http://schemas.microsoft.com/office/powerpoint/2010/main" val="1166991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A685D529-1AA3-468A-B1E1-E983348B1228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1E9824-5D48-430F-9A2C-2718962AE66A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&lt;figure&gt; e &lt;figcaption&gt; unem mídia e legenda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A5C810A-4DBA-4AAF-87BD-7B5198FEFD5C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59A332-E0E8-4763-A515-2D9185C0C5F4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AD3623-A81F-4478-89C1-D7E3726097C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031A048-37E6-4249-917C-D6C5EF78E843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F7E4A0-4333-44F3-8AC9-78F6B62E10BC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&lt;figure&gt; agrupa uma imagem, gráfico ou exemplo autônomo.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F512656-B349-4D90-837A-3A73DCA7CE4F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DAE0047-92A4-4DBD-9B19-B56F255C2A70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&lt;figcaption&gt; oferece uma legenda associada.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D18F055-DD55-4541-B1A3-73C20C2B40B0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AB90EB2-C329-46B1-BBAD-A61BF9905A39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 legenda pode ficar antes ou depois da mídia.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B061CE4-A0A9-44E0-AF5F-F784252FF902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D90E111-EFED-460E-8343-90937C05CF0D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Esse agrupamento reforça a semântica do documento.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84150B7-9F2D-4E99-BFCD-535597C26FBF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B07EF87-BFAA-4E46-964E-4DCB61819D9E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D88DE8E-3988-4B74-8E19-52AE5B3389E4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&lt;figure&gt;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&lt;img src="aluno.jpg"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  alt="Aluno programando"&gt;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&lt;figcaption&gt;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  Estudante criando uma página.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&lt;/figcaption&gt;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&lt;/figure&gt;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CBF7980-15D7-4148-9996-F8838041C262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1AE3581-58E0-4215-8F30-755C594E2B97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14E2785-5399-4AC4-93B0-8C42719DDA64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Use quando a legenda fizer parte do significado da imagem.</a:t>
            </a:r>
          </a:p>
        </p:txBody>
      </p:sp>
    </p:spTree>
    <p:extLst>
      <p:ext uri="{BB962C8B-B14F-4D97-AF65-F5344CB8AC3E}">
        <p14:creationId xmlns:p14="http://schemas.microsoft.com/office/powerpoint/2010/main" val="911599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02A6E49A-7E1A-4423-B038-A13DB135C012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5C67E6D-9421-4AD7-8B6A-D48433241781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&lt;ul&gt;, &lt;ol&gt; e &lt;li&gt; constroem listas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E476C57-84EB-4F22-92A7-7E840C212CC4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FCBD24-3CF8-468F-B1CE-DC7EF8B6AE51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39B88C-6135-4E0B-A665-42AA1505E176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3AFAC8-5F93-47E6-A242-B26AC6103A4F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FE0B110-19D4-42AF-BB11-8B408F2A1B24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&lt;ul&gt;: lista sem ordem obrigatória.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3859DE-3AF5-4A45-9C5A-A6FC608282FE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9A61ED7-8212-4DEE-BB35-D7C7AF7611E9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&lt;ol&gt;: sequência, classificação ou passo a passo.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6695EE1-A2A7-496C-84DA-B7F864EFA84B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A0C322C-D9E8-4FB2-B94E-88A8A98C6A0A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&lt;li&gt;: cada item dentro da lista.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ED9E3A-067C-4B41-BA9D-ACC4BFC3D7F2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D0EFD66-EE98-46D9-BE09-E0C1BFBB60D0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Listas podem ser aninhadas para criar subitens.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D771905-5A95-4AC2-BD8E-9584F6A7195D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A56803A-1E01-4802-8721-B1FA6F076E5E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8ABE832-4BA0-4E3C-B7EF-4AD9E8B39F03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&lt;ul&gt;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&lt;li&gt;HTML&lt;/li&gt;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&lt;li&gt;CSS&lt;/li&gt;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&lt;/ul&gt;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&lt;ol&gt;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&lt;li&gt;Criar index.html&lt;/li&gt;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&lt;li&gt;Digitar a estrutura&lt;/li&gt;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&lt;li&gt;Abrir no navegador&lt;/li&gt;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&lt;/ol&gt;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B8ED722-B8DE-44F4-A4D2-C70E82E9A8E6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1210CDD-AF55-4AB6-ABE1-08ECDCD5F1D6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CECEA16-221A-4652-9008-B81216B4412D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Use &lt;ol&gt; quando trocar a ordem prejudicar o sentido do procedimento.</a:t>
            </a:r>
          </a:p>
        </p:txBody>
      </p:sp>
    </p:spTree>
    <p:extLst>
      <p:ext uri="{BB962C8B-B14F-4D97-AF65-F5344CB8AC3E}">
        <p14:creationId xmlns:p14="http://schemas.microsoft.com/office/powerpoint/2010/main" val="206797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21A41D5-CC0E-4280-867C-33DD1CCBB883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53E5699-957B-4E73-9ABE-C1050F6CA0F3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&lt;dl&gt;, &lt;dt&gt; e &lt;dd&gt; apresentam termos e definições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2E5544-140A-4DF7-BEF8-01565B43BD19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F9FD2B2-E25C-403A-859A-7CD78E0BD4C5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9EC1D1B-AE3C-43B6-A61B-1A0A06FCF4C7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9664648-4000-4BEE-8F7B-BCD8EA5C0F33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45552D-2D93-4AA4-89FD-EC0B74B56508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&lt;dl&gt; envolve a lista descritiva.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522315-2174-423A-B0A9-8691B10D1C99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42E1463-496A-4BF4-9330-AA43A951BE01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&lt;dt&gt; representa o termo ou nome.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0BB28DB-5F88-47AB-B812-4CAB2A8696E3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AF5BA0-92D3-4D1E-A5CC-16836481400B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&lt;dd&gt; apresenta sua descrição ou valor.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CA06168-5002-4FC0-9CBB-295DF6B7E85B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BF4B8C0-02B2-4F49-9DDF-50882088B344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É útil em glossários, perguntas e propriedades.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82418E2-C79A-4900-BF1A-2E522DAC2036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88B35B5-0B9E-439A-8A43-30EDC87C0416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E1E2410-8C57-43E6-BE30-64E7A7744FD2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&lt;dl&gt;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&lt;dt&gt;HTML&lt;/dt&gt;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&lt;dd&gt;Estrutura páginas web.&lt;/dd&gt;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&lt;dt&gt;CSS&lt;/dt&gt;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&lt;dd&gt;Define apresentação visual.&lt;/dd&gt;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&lt;/dl&gt;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0B37603-0E73-4B59-B719-8ED9A22819D6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E7D7EB8-FE6E-4330-9C88-90C91AC4E504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A42A91F-9428-4E13-9023-9AC5BED0D74C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Não substitua &lt;dt&gt; e &lt;dd&gt; por parágrafos: a relação semântica é importante.</a:t>
            </a:r>
          </a:p>
        </p:txBody>
      </p:sp>
    </p:spTree>
    <p:extLst>
      <p:ext uri="{BB962C8B-B14F-4D97-AF65-F5344CB8AC3E}">
        <p14:creationId xmlns:p14="http://schemas.microsoft.com/office/powerpoint/2010/main" val="463454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7003A033-C5FE-498F-932D-2232518C6FF2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8739420-D705-41BA-AD19-9D21F922F8ED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Tabelas organizam dados em linhas e colunas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C32CF21-24E5-4E21-A7C3-AE1137A4E3DB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AB48FDF-B5CB-4476-B4AF-D949DB78AA98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8E1F9C-0C2B-4B3D-8F8F-D899DE9ACA76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3F736D3-E6F8-40EE-AC95-D0DC8A0262BA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22C13EA-FA1F-4EEE-9D0E-65E684538A0A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&lt;table&gt; envolve a tabela inteira.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B9AD64E-B9C9-4481-9C1A-BEC8781914D9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823224-E9E2-4A71-8BDA-F4CF65CC5ED2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&lt;thead&gt; e &lt;tbody&gt; separam cabeçalho e dados.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A936267-0519-4C2E-976D-C4B2F5A01EDB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2A69F3D-8655-4FB7-9DF7-DA3EA216D0F4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&lt;tr&gt; cria uma linha.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95E6115-5203-42A8-9C5C-8EA0132D84FF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FDCFDB0-8AAB-4F27-B552-282150C515D6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&lt;th&gt; é cabeçalho; &lt;td&gt; é célula de dado.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676BC42-EB1A-46BE-874E-94A124295B78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FF3075D-C068-414C-AD1F-E23F6C6693D8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7AE6BE1-368F-47B7-A450-D864F2F90D83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&lt;table&gt;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&lt;thead&gt;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&lt;tr&gt;&lt;th&gt;Aluno&lt;/th&gt;&lt;th&gt;Nota&lt;/th&gt;&lt;/tr&gt;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&lt;/thead&gt;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&lt;tbody&gt;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&lt;tr&gt;&lt;td&gt;Ana&lt;/td&gt;&lt;td&gt;9,0&lt;/td&gt;&lt;/tr&gt;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&lt;tr&gt;&lt;td&gt;Caio&lt;/td&gt;&lt;td&gt;8,5&lt;/td&gt;&lt;/tr&gt;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&lt;/tbody&gt;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&lt;/table&gt;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D0B1E55-2F3C-4AF4-A42F-A8290B321112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0979C7A-9D9A-44F0-826C-690D0244EC2E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1FC3BC3-7B3E-44C8-872A-7B76D9B0ECB4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Use tabelas para dados tabulares, nunca para montar o layout da página.</a:t>
            </a:r>
          </a:p>
        </p:txBody>
      </p:sp>
    </p:spTree>
    <p:extLst>
      <p:ext uri="{BB962C8B-B14F-4D97-AF65-F5344CB8AC3E}">
        <p14:creationId xmlns:p14="http://schemas.microsoft.com/office/powerpoint/2010/main" val="69194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29532147-5C2A-4E35-A7F9-1DB8186A56F5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51F251F-F3D1-43EE-A432-85D8DF519697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&lt;form&gt; organiza a coleta e o envio de 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48156FF-725F-48E4-9679-3537CB8CE304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34481D1-09F4-4839-9C54-38E0FD737ABE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ACC8F8-6B7D-46DF-A573-7D38A42D048A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CADE342-8548-4680-82C2-6C262C72B224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2A6866E-E535-4BB7-884E-F7C517F07523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action indica para onde os dados serão enviados.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C08EE55-CB04-4617-9719-62D77FB42F7F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F61C571-E0DC-48E3-8324-F22E4A7FEBE0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method define como serão enviados, geralmente get ou post.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025DC63-A366-44C2-B2D9-17AA1CBAF7BE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C9D311C-4AD7-446C-9CED-60AA0C79948F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Campos precisam de name para serem identificados no envio.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6C70C95-4166-4F7E-99A6-038B3E3A9206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DC60F05-D551-4550-964D-9183DDBC7CE3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 formulário agrupa labels, campos e botões.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FE5E00F-A60C-47D3-95C1-01E2D9037F16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92246AE-1C89-479A-BF09-6000D25864B4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D368AD6-7F8A-4A33-88F7-BE119028E963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&lt;form action="/cadastrar" method="post"&gt;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&lt;label for="nome"&gt;Nome:&lt;/label&gt;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&lt;input id="nome" name="nome"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  type="text" required&gt;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&lt;button type="submit"&gt;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  Cadastrar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&lt;/button&gt;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&lt;/form&gt;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A694CCB-1DF0-4BCB-9197-1A0A845C87A0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BBB6D31-254D-44B9-893B-F6BBE29F24B3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8F35DE5-FB16-4536-83A6-38A15C5958D7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HTML coleta os dados; um backend é necessário para processá-los e armazená-los.</a:t>
            </a:r>
          </a:p>
        </p:txBody>
      </p:sp>
    </p:spTree>
    <p:extLst>
      <p:ext uri="{BB962C8B-B14F-4D97-AF65-F5344CB8AC3E}">
        <p14:creationId xmlns:p14="http://schemas.microsoft.com/office/powerpoint/2010/main" val="2070280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BAA17C46-F089-403F-A675-C58C88FFF597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5DF58B9-0833-4D03-B0DE-4AC0E9599642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&lt;label&gt; identifica o campo e melhora a acessibilidade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BAF8453-5BA3-44FF-B367-E04B4CFBF96E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7ABFE5D-D2FE-4A99-8313-1DDB370BAEC5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AE9B68-B936-4009-8441-FEB6865FA66C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0479A5F-1295-470C-81A5-D8FB2C62C0CB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8AAE336-CFA0-454B-87F7-32A51BD4FA6D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for deve corresponder ao id do campo.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206D659-DA54-4BE4-B28B-4992DDBEE01D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DC878DE-19FE-49EC-9BC2-FB9879ECA639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Clicar no rótulo posiciona o foco no campo.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3D15AF1-6DB0-42E5-8D39-0355C694BAB9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6ECB9D6-D476-4CF8-AC48-05823BE60A0D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 texto deve explicar claramente o dado esperado.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556D6B8-F912-4AB0-867D-1A161D1BDE65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D14F7A4-4F4A-4D5D-BBD8-8074D79F1D73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placeholder não substitui um label permanente.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3DAB745-F6A8-46AD-AF94-52144A076BC5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8045917-E6DD-4116-BA7D-CDC3B1228074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3AAE589-5FAE-4DCB-9DE4-1E8E4830CBEC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&lt;label for="email"&gt;E-mail:&lt;/label&gt;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&lt;input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type="email"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id="email"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name="email"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placeholder="nome@exemplo.com"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19A4605-197B-43D1-A238-9C575C60F2AF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5EE4399-81D9-4E35-9825-8C3AD251B446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8AB5CEC-CBF0-4B6D-AE7E-CC8B84627654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Sempre associe cada campo importante a um &lt;label&gt;.</a:t>
            </a:r>
          </a:p>
        </p:txBody>
      </p:sp>
    </p:spTree>
    <p:extLst>
      <p:ext uri="{BB962C8B-B14F-4D97-AF65-F5344CB8AC3E}">
        <p14:creationId xmlns:p14="http://schemas.microsoft.com/office/powerpoint/2010/main" val="1420279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F62CC793-22CD-4B08-B25B-9297DE8627E1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C7733E-888A-46A0-8CC1-2BF0D8CE3CD8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&lt;input&gt; assume diferentes tipos de entrada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A4E6EF-D21C-4925-9233-4E44E333B7A0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CA500B-0E04-4BE6-99DB-0BABCD4FF6D5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4F283B-DEB5-40BE-9630-A702ECDB36F6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78677EB-323C-45A1-B009-7836E26F0106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951DA2-ACDA-49C3-A81A-4D35577C770D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text, email e password recebem textos específicos.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0688F35-815B-4C54-92BF-6553559D6C21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374517-55CE-4AF6-AA1C-35F05ABE1567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number e date oferecem controles adequados.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48F349D-2AC5-4CDA-8AC6-ECC0A331D616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2481AFE-1152-417A-B12E-584879116BDD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checkbox permite múltiplas escolhas.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BD704A9-B96A-4A14-B90F-EA9A4DB2B9AD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EF3D53B-BCFB-496B-BD3D-89C79A4EBAD4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radio permite uma escolha dentro do mesmo name.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EA8D8D-701E-4C3E-B093-E6CB0BA5C63B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E769800-D80E-406E-B7C9-FEAC76D398AB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6A9B8DF-2679-4450-8679-589E7B114F19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&lt;input type="text" name="nome"&gt;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&lt;input type="email" name="email"&gt;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&lt;input type="password" name="senha"&gt;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&lt;input type="number" min="0" max="100"&gt;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&lt;input type="date" name="data"&gt;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&lt;input type="checkbox" name="termos"&gt;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E5581B5-2409-4F19-8B78-C30EBE63C5D2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C16FC8D-C795-40D3-9A1D-1C835040E306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27F2F9A-6449-4A2D-9162-317295B804CF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Escolher o type correto melhora validação, teclado móvel e experiência do usuário.</a:t>
            </a:r>
          </a:p>
        </p:txBody>
      </p:sp>
    </p:spTree>
    <p:extLst>
      <p:ext uri="{BB962C8B-B14F-4D97-AF65-F5344CB8AC3E}">
        <p14:creationId xmlns:p14="http://schemas.microsoft.com/office/powerpoint/2010/main" val="158385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98E04952-2E62-4CC7-AACF-23F568F116F9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B9FA668-D475-4F90-A073-2614DAC11C9C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&lt;textarea&gt; e &lt;select&gt; coletam textos longos e escolhas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2B278D8-6FB0-480D-B078-AC5A0467994C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0C7353B-ABA8-43E4-8BD3-7BC895AF391F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A9368C-AE6A-46D9-ABC5-9B230BAFAC9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85E0FAE-D62D-46D3-9857-A5939B13AE0E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091B44B-7092-4B9B-A40E-61125674C66B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&lt;textarea&gt; recebe mensagens com várias linhas.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8758303-1979-4F3E-B969-9A6AF1220D21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A7B7EA0-A8E8-40B8-B530-E5F736740C7E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rows sugere a altura inicial do campo.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D328F60-1552-48CB-90A3-F8FE45CA9FD3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5AE37E2-536C-4154-98CF-21C9DED3B4D9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&lt;select&gt; cria uma lista de opções.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41297DB-4A0E-4391-A488-865A8FDB1E80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BCF7AE8-3BB7-4EF4-B616-E6907DFAB3EA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&lt;option&gt; define cada valor disponível.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E9720C3-7AF0-4BAA-B426-EADD1E489577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627B309-E46C-4BA5-8F27-DBEFB4190026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3E010D8-99F0-4ECE-B5E4-72D0BF3C34B1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&lt;textarea name="mensagem" rows="5"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placeholder="Digite sua mensagem"&gt;&lt;/textarea&gt;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&lt;select name="curso"&gt;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&lt;option value=""&gt;Selecione&lt;/option&gt;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&lt;option value="html"&gt;HTML&lt;/option&gt;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&lt;option value="css"&gt;CSS&lt;/option&gt;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&lt;/select&gt;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211AA5C-6CEC-4DBE-8F87-3D066C0361ED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D7F0EAD-B289-467C-93D9-C5FA207212A4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3703F51-9528-41D6-98CF-A308DA75EBAE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 value é o dado enviado; o texto da opção é o que o usuário vê.</a:t>
            </a:r>
          </a:p>
        </p:txBody>
      </p:sp>
    </p:spTree>
    <p:extLst>
      <p:ext uri="{BB962C8B-B14F-4D97-AF65-F5344CB8AC3E}">
        <p14:creationId xmlns:p14="http://schemas.microsoft.com/office/powerpoint/2010/main" val="989348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6DC41B96-AD62-41C6-B418-15AB7BDBADA1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FUNDAMENTOS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C1D6ADA-B9A0-4DD6-8BF3-1595A561FFA2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&lt;button&gt; executa ações dentro ou fora de formulários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5273FC9-3310-4304-9E70-18BA8D3E5917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9A735DE-EDD5-45D9-B9A8-5A453779BA4C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0436596-84E4-4C50-B6E4-34B0D232999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8384195-3B4B-4B02-BEC3-E6768C63BB30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2017B1-31FE-43E9-B33B-74614CE774A3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submit envia o formulário.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A4734E-90BE-4A1C-99A4-AEFA0A6C2B85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0FE4B91-64C4-4F94-807E-74C7CFAAFCEA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reset restaura os valores iniciais.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1E3E160-6257-4ECB-9AD8-3992D44B93AC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6A4F09-1CAD-4E2A-8F0E-AD3A88D05CA1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button não envia nada automaticamente.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5175E55-8F56-4D32-AAB2-FEED1A9D2B48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EFFB952-FFEE-476C-88B7-7FB2EECE1272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 conteúdo pode ter texto ou elementos adicionais.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04FD8F0-14A3-48CC-9FB5-7F32744B45AA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A38C298-8C55-44A4-BEA2-0B9EA68BA175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2D0DD09-DBF8-4036-9350-974DBDF33B0B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&lt;button type="submit"&gt;Enviar&lt;/button&gt;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&lt;button type="reset"&gt;Limpar&lt;/button&gt;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&lt;button type="button"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onclick="alert('Olá!')"&gt;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Mostrar mensagem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&lt;/button&gt;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F0CC9D5-7B72-45EB-8544-C726B58C2418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F8B200C-D838-419B-B16B-328010A4D5DF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9004616-C00C-4540-A9FA-C2C47F962BAE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Declare o type explicitamente para evitar envios acidentais.</a:t>
            </a:r>
          </a:p>
        </p:txBody>
      </p:sp>
    </p:spTree>
    <p:extLst>
      <p:ext uri="{BB962C8B-B14F-4D97-AF65-F5344CB8AC3E}">
        <p14:creationId xmlns:p14="http://schemas.microsoft.com/office/powerpoint/2010/main" val="1266907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B6299813-42F9-4CBE-9278-BD7223FC63B9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SEMÂNTICA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DF39134-7B8E-401C-821E-3565C5DF2BD7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Tags semânticas descrevem as regiões da página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49429A-72E6-4228-BC7E-F56792604A77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C1D946-BFDE-4644-9845-A572724D023F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ACAF4B-BB26-43CF-B174-5F8A0C3FBCF6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&lt;header&gt;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8F4817-6005-4717-9443-3615ABAC6692}"/>
              </a:ext>
            </a:extLst>
          </p:cNvPr>
          <p:cNvSpPr>
            <a:spLocks noGrp="1"/>
          </p:cNvSpPr>
          <p:nvPr/>
        </p:nvSpPr>
        <p:spPr>
          <a:xfrm>
            <a:off x="2952750" y="1590675"/>
            <a:ext cx="8096250" cy="342900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C017E11-A8B4-4680-9971-FFCF69B24CB0}"/>
              </a:ext>
            </a:extLst>
          </p:cNvPr>
          <p:cNvSpPr>
            <a:spLocks noGrp="1"/>
          </p:cNvSpPr>
          <p:nvPr/>
        </p:nvSpPr>
        <p:spPr>
          <a:xfrm>
            <a:off x="3190875" y="1590675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cabeçalho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F026030-0043-48A2-8275-CBC55FD26522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&lt;nav&gt;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6F00F46-B30E-4D79-BF18-1CA01BB51210}"/>
              </a:ext>
            </a:extLst>
          </p:cNvPr>
          <p:cNvSpPr>
            <a:spLocks noGrp="1"/>
          </p:cNvSpPr>
          <p:nvPr/>
        </p:nvSpPr>
        <p:spPr>
          <a:xfrm>
            <a:off x="2952750" y="2200275"/>
            <a:ext cx="8096250" cy="342900"/>
          </a:xfrm>
          <a:prstGeom prst="rect">
            <a:avLst/>
          </a:prstGeom>
          <a:solidFill>
            <a:srgbClr val="F1F5F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BE673C-32D1-4C7E-90DF-E4AD321B9DE4}"/>
              </a:ext>
            </a:extLst>
          </p:cNvPr>
          <p:cNvSpPr>
            <a:spLocks noGrp="1"/>
          </p:cNvSpPr>
          <p:nvPr/>
        </p:nvSpPr>
        <p:spPr>
          <a:xfrm>
            <a:off x="3190875" y="2200275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navegação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F05778F-688A-4005-BB2D-C1A677BF3FD7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&lt;main&gt;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B3C069D-206E-468B-81D4-9BBD682AB22C}"/>
              </a:ext>
            </a:extLst>
          </p:cNvPr>
          <p:cNvSpPr>
            <a:spLocks noGrp="1"/>
          </p:cNvSpPr>
          <p:nvPr/>
        </p:nvSpPr>
        <p:spPr>
          <a:xfrm>
            <a:off x="2952750" y="2809875"/>
            <a:ext cx="8096250" cy="342900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9475A99-707F-4CCC-82C4-04921C40E3AF}"/>
              </a:ext>
            </a:extLst>
          </p:cNvPr>
          <p:cNvSpPr>
            <a:spLocks noGrp="1"/>
          </p:cNvSpPr>
          <p:nvPr/>
        </p:nvSpPr>
        <p:spPr>
          <a:xfrm>
            <a:off x="3190875" y="2809875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conteúdo principal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FA87556-9675-4B71-8F8B-F99FD0381654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&lt;section&gt;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9D5F58-C921-4DC4-9414-35F5CDE9FD81}"/>
              </a:ext>
            </a:extLst>
          </p:cNvPr>
          <p:cNvSpPr>
            <a:spLocks noGrp="1"/>
          </p:cNvSpPr>
          <p:nvPr/>
        </p:nvSpPr>
        <p:spPr>
          <a:xfrm>
            <a:off x="2952750" y="3419475"/>
            <a:ext cx="8096250" cy="342900"/>
          </a:xfrm>
          <a:prstGeom prst="rect">
            <a:avLst/>
          </a:prstGeom>
          <a:solidFill>
            <a:srgbClr val="F1F5F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F6B4287-F4BB-418D-95A3-52553CCB4385}"/>
              </a:ext>
            </a:extLst>
          </p:cNvPr>
          <p:cNvSpPr>
            <a:spLocks noGrp="1"/>
          </p:cNvSpPr>
          <p:nvPr/>
        </p:nvSpPr>
        <p:spPr>
          <a:xfrm>
            <a:off x="3190875" y="3419475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seção temática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9E9D2D-A40E-49D6-A407-823C5F846BA7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&lt;article&gt;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4A902C6-8FB9-4E5E-9851-4EC46CFD251A}"/>
              </a:ext>
            </a:extLst>
          </p:cNvPr>
          <p:cNvSpPr>
            <a:spLocks noGrp="1"/>
          </p:cNvSpPr>
          <p:nvPr/>
        </p:nvSpPr>
        <p:spPr>
          <a:xfrm>
            <a:off x="2952750" y="4029075"/>
            <a:ext cx="8096250" cy="342900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F89C8A3-BAE2-4785-AE30-A448799C02F7}"/>
              </a:ext>
            </a:extLst>
          </p:cNvPr>
          <p:cNvSpPr>
            <a:spLocks noGrp="1"/>
          </p:cNvSpPr>
          <p:nvPr/>
        </p:nvSpPr>
        <p:spPr>
          <a:xfrm>
            <a:off x="3190875" y="4029075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conteúdo independente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25EF5AD-B1DF-4FD8-886A-CE00E64573D6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&lt;aside&gt;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7B241AC-D674-4BC3-8708-6F33AD9DD65D}"/>
              </a:ext>
            </a:extLst>
          </p:cNvPr>
          <p:cNvSpPr>
            <a:spLocks noGrp="1"/>
          </p:cNvSpPr>
          <p:nvPr/>
        </p:nvSpPr>
        <p:spPr>
          <a:xfrm>
            <a:off x="2952750" y="4638675"/>
            <a:ext cx="8096250" cy="342900"/>
          </a:xfrm>
          <a:prstGeom prst="rect">
            <a:avLst/>
          </a:prstGeom>
          <a:solidFill>
            <a:srgbClr val="F1F5F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73BF72B-5C8F-42D8-AE33-35C695A37E5D}"/>
              </a:ext>
            </a:extLst>
          </p:cNvPr>
          <p:cNvSpPr>
            <a:spLocks noGrp="1"/>
          </p:cNvSpPr>
          <p:nvPr/>
        </p:nvSpPr>
        <p:spPr>
          <a:xfrm>
            <a:off x="3190875" y="4638675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complemento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3AFF488-D7B2-41DF-8972-9F1A357B07D5}"/>
              </a:ext>
            </a:extLst>
          </p:cNvPr>
          <p:cNvSpPr>
            <a:spLocks noGrp="1"/>
          </p:cNvSpPr>
          <p:nvPr/>
        </p:nvSpPr>
        <p:spPr>
          <a:xfrm>
            <a:off x="762000" y="5181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&lt;footer&gt;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ED76A3D-1F8E-45D0-B438-B3284098862C}"/>
              </a:ext>
            </a:extLst>
          </p:cNvPr>
          <p:cNvSpPr>
            <a:spLocks noGrp="1"/>
          </p:cNvSpPr>
          <p:nvPr/>
        </p:nvSpPr>
        <p:spPr>
          <a:xfrm>
            <a:off x="2952750" y="5248275"/>
            <a:ext cx="8096250" cy="342900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6AF3F39-3540-4F16-B450-01247D71517B}"/>
              </a:ext>
            </a:extLst>
          </p:cNvPr>
          <p:cNvSpPr>
            <a:spLocks noGrp="1"/>
          </p:cNvSpPr>
          <p:nvPr/>
        </p:nvSpPr>
        <p:spPr>
          <a:xfrm>
            <a:off x="3190875" y="5248275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rodapé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ADA6BE2-9C72-4654-B94E-950BC1A18859}"/>
              </a:ext>
            </a:extLst>
          </p:cNvPr>
          <p:cNvSpPr>
            <a:spLocks noGrp="1"/>
          </p:cNvSpPr>
          <p:nvPr/>
        </p:nvSpPr>
        <p:spPr>
          <a:xfrm>
            <a:off x="762000" y="596265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A semântica ajuda pessoas, navegadores e mecanismos de busca a entenderem a organização.</a:t>
            </a:r>
          </a:p>
        </p:txBody>
      </p:sp>
    </p:spTree>
    <p:extLst>
      <p:ext uri="{BB962C8B-B14F-4D97-AF65-F5344CB8AC3E}">
        <p14:creationId xmlns:p14="http://schemas.microsoft.com/office/powerpoint/2010/main" val="1938643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3C3055DB-3BFF-4FB2-98D6-3B6E807468B3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SEMÂNTICA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EE76D34-A9CF-4431-9A78-661B8EE5D24A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&lt;header&gt;, &lt;nav&gt;, &lt;main&gt; e &lt;footer&gt; formam o esqueleto visível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121C474-7A02-49DA-8D81-9F4472F8EF60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10E816-85C1-4794-BCED-DCD0282E5D97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5E06B58-D5D4-4493-A03B-DC087FCF00B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80EC0B3-5132-4A5F-A288-C86124DD5192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42D91D0-CC33-40DE-9319-AEB2EFE6B531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&lt;header&gt;: identidade e introdução da página.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C7DA7CB-01B0-4039-9F98-510E824AA5D8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145CB44-DE2B-47DB-A88F-73D55940CBB6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&lt;nav&gt;: conjunto principal de links de navegação.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3D8232D-C935-4F49-8E1B-3EB60F6B2E1F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6B66D82-D72E-4138-B8E9-34837A0D35C7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&lt;main&gt;: conteúdo exclusivo e central do documento.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9965F95-8505-424E-9CC1-4C4309B3C646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2E4D36E-9891-46D6-8004-C5E21E70A4CE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&lt;footer&gt;: autoria, contatos e informações finais.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6A56F8E-B449-459E-B9E5-F639097661D8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B66BF6C-FB37-4584-A839-0EB7E00B8AE5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BEB98A4-5B59-4465-AA90-548AF2B70D53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&lt;header&gt;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&lt;h1&gt;Portal do Aluno&lt;/h1&gt;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&lt;nav&gt;&lt;a href="/"&gt;Início&lt;/a&gt;&lt;/nav&gt;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&lt;/header&gt;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&lt;main&gt;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&lt;h2&gt;Aulas&lt;/h2&gt;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&lt;/main&gt;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&lt;footer&gt;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&lt;p&gt;&amp;copy; 2026 Escola&lt;/p&gt;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&lt;/footer&gt;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302C22A-CB3D-4265-A1AB-78F8F0C8CBA0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46EE45A-D9DF-41B1-B226-E5B181F0A10B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5853518-BF02-4063-9667-C8942E05A3A9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Normalmente há apenas um &lt;main&gt; visível em cada página.</a:t>
            </a:r>
          </a:p>
        </p:txBody>
      </p:sp>
    </p:spTree>
    <p:extLst>
      <p:ext uri="{BB962C8B-B14F-4D97-AF65-F5344CB8AC3E}">
        <p14:creationId xmlns:p14="http://schemas.microsoft.com/office/powerpoint/2010/main" val="741208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659730B0-09DF-4D49-83C0-78B2E41DA91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SEMÂNTICA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2EA598D-51B8-44BC-A884-EF6ED63FD2E8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&lt;section&gt;, &lt;article&gt; e &lt;aside&gt; organizam o conteúdo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DED7A19-B0D0-4C8A-8A93-88C82E0FCE89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3B28A99-0F24-46A0-9529-10B40A7F34EE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50F86DE-9F2E-47A7-BB11-CA20348D2956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BA46AB6-2697-44EF-8F4C-60670F72FC91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C8CB194-1085-4331-8024-41E58AB3379A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&lt;section&gt;: grupo temático, geralmente com título.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84B21C-8B80-45E4-B417-B98AE33DC0AF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9361A6-5BFB-4F07-89B5-48F8F5C6DD90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&lt;article&gt;: peça independente, como notícia ou postagem.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520E14C-0097-4969-AB1E-32942D10F0C1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2B7DBA-0511-4D48-9AF6-5BF181DC9473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&lt;aside&gt;: informação complementar ao conteúdo próximo.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669DAE0-7623-4586-BAB6-3C5BED741BBA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25656B8-50FE-4F38-9411-9C5AFAED989E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Escolha pela função, não pela aparência desejada.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453328-0715-4684-931F-975C56F5AFB8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0FF3BCE-F272-4C59-BB8D-E4D97D29719C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18D249F-7418-431F-B517-936BEAE79D3D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&lt;section&gt;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&lt;h2&gt;Notícias&lt;/h2&gt;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&lt;article&gt;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&lt;h3&gt;Nova turma de HTML&lt;/h3&gt;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&lt;p&gt;Inscrições abertas.&lt;/p&gt;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&lt;/article&gt;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&lt;/section&gt;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&lt;aside&gt;Veja também o curso de CSS.&lt;/aside&gt;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B197825-465D-4ABC-B673-25CDF300A3D1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D502339-AE74-4FA8-AF96-BD4709231521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2D89A61-42ED-4E3D-A041-09DEF4B3AE63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Pergunte: este conteúdo poderia existir sozinho? Se sim, &lt;article&gt; pode ser adequado.</a:t>
            </a:r>
          </a:p>
        </p:txBody>
      </p:sp>
    </p:spTree>
    <p:extLst>
      <p:ext uri="{BB962C8B-B14F-4D97-AF65-F5344CB8AC3E}">
        <p14:creationId xmlns:p14="http://schemas.microsoft.com/office/powerpoint/2010/main" val="340103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4A4D3F1C-CBA0-40DA-9B96-BE2C61222C93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ORGANIZAÇÃO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E128735-8264-4312-AC8D-D63F2E7A3E61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&lt;div&gt; e &lt;span&gt; agrupam conteúdo sem significado próprio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CF73F2A-18CC-4018-B974-CA2C4CF4446C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0E57F9-D4D3-4B29-899D-1370549AC59C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B9E65CE-4DD9-4808-AE79-61FFE77675FC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1D1870-63ED-4C60-A8C1-5F182B9D579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02E382-7652-4617-B53B-E797E494CD87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&lt;div&gt; agrupa elementos em bloco.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7E0B06F-8F6B-47B8-9462-2E4748F32B67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9E4A7F4-2DB2-4510-A9C1-0E71961B37F3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&lt;span&gt; marca um pequeno trecho dentro da linha.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1FE7A3B-46D1-407C-8BF5-BCA5AC78AE44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DA574DC-2A33-4A05-A5C5-24038307BB0A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class e id permitem selecionar elementos no CSS e JavaScript.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EF28C3F-BA6E-4159-A8D9-72DC5CCD0587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D86DAF6-A809-4E09-951A-6C3D6B286812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Prefira uma tag semântica quando ela descrever a função.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48AE637-CDFB-487D-97B5-9F854CC47154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15F36A7-877A-439A-AE01-4F949D247449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5509612-647C-4630-95A5-82A4ECB964D7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&lt;div class="produto"&gt;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&lt;h2&gt;Notebook&lt;/h2&gt;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&lt;p&gt;Preço: &lt;span class="preco"&gt;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  R$ 3.500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&lt;/span&gt;&lt;/p&gt;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&lt;/div&gt;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B36CA8A-12D2-4C0D-B860-68947AE319AA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162BFF9-6CDF-4F51-B61E-EC5BA6DE8758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8E06062-024F-42DC-BCCE-4FE44AA8C30C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Use &lt;div&gt; e &lt;span&gt; como recursos genéricos, não como substitutos automáticos de todas as tags.</a:t>
            </a:r>
          </a:p>
        </p:txBody>
      </p:sp>
    </p:spTree>
    <p:extLst>
      <p:ext uri="{BB962C8B-B14F-4D97-AF65-F5344CB8AC3E}">
        <p14:creationId xmlns:p14="http://schemas.microsoft.com/office/powerpoint/2010/main" val="917795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AECE19A5-C91F-492D-9FC4-449E79024F2B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MULTIMÍDIA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9612D1F-81D4-44AE-BAF0-CA14B43A4559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&lt;audio&gt; e &lt;video&gt; incorporam mídia à página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604BA2-3F07-4B9E-8A8E-1B13F6B6161E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631F99C-D1EF-426A-9A69-441E4D7BD671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5D8FEA-93A0-4AE5-A5AC-F9C3E6D44004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 que faz e quando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6983F91-D839-4B2F-8233-333E60135439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C1E48BC-6D15-4E4D-93D0-01864940866B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controls exibe os controles de reprodução.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6A7FE40-6575-42A7-86C1-D997F5555629}"/>
              </a:ext>
            </a:extLst>
          </p:cNvPr>
          <p:cNvSpPr>
            <a:spLocks noGrp="1"/>
          </p:cNvSpPr>
          <p:nvPr/>
        </p:nvSpPr>
        <p:spPr>
          <a:xfrm>
            <a:off x="666750" y="2738438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E7E3A52-53CE-4ABA-A642-04757ACF0EA4}"/>
              </a:ext>
            </a:extLst>
          </p:cNvPr>
          <p:cNvSpPr>
            <a:spLocks noGrp="1"/>
          </p:cNvSpPr>
          <p:nvPr/>
        </p:nvSpPr>
        <p:spPr>
          <a:xfrm>
            <a:off x="952500" y="2738438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&lt;source&gt; informa arquivo e tipo de mídia.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1F18922-080F-4D13-A72F-CB90013FC4C1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B07902-E25A-4086-869E-21BCF6959703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Pode haver fontes alternativas para compatibilidade.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6F70E8D-2160-44A0-ACAD-A794909B0E2D}"/>
              </a:ext>
            </a:extLst>
          </p:cNvPr>
          <p:cNvSpPr>
            <a:spLocks noGrp="1"/>
          </p:cNvSpPr>
          <p:nvPr/>
        </p:nvSpPr>
        <p:spPr>
          <a:xfrm>
            <a:off x="666750" y="4310063"/>
            <a:ext cx="2286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5A7B356-A3DE-4936-9304-58D0A75C0C2B}"/>
              </a:ext>
            </a:extLst>
          </p:cNvPr>
          <p:cNvSpPr>
            <a:spLocks noGrp="1"/>
          </p:cNvSpPr>
          <p:nvPr/>
        </p:nvSpPr>
        <p:spPr>
          <a:xfrm>
            <a:off x="952500" y="4310063"/>
            <a:ext cx="457200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 texto interno serve como mensagem de fallback.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5370F0B-06E3-4D72-8148-35F130BE5512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561975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843F62A-004B-41D4-A6B5-3F6700F9FE15}"/>
              </a:ext>
            </a:extLst>
          </p:cNvPr>
          <p:cNvSpPr>
            <a:spLocks noGrp="1"/>
          </p:cNvSpPr>
          <p:nvPr/>
        </p:nvSpPr>
        <p:spPr>
          <a:xfrm>
            <a:off x="6115050" y="1714500"/>
            <a:ext cx="520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6E62FEF-9E0A-4595-B270-814E27E72A80}"/>
              </a:ext>
            </a:extLst>
          </p:cNvPr>
          <p:cNvSpPr>
            <a:spLocks noGrp="1"/>
          </p:cNvSpPr>
          <p:nvPr/>
        </p:nvSpPr>
        <p:spPr>
          <a:xfrm>
            <a:off x="6115050" y="2019300"/>
            <a:ext cx="5200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&lt;audio controls&gt;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&lt;source src="aula.mp3" type="audio/mpeg"&gt;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Navegador sem suporte a áudio.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&lt;/audio&gt;</a:t>
            </a:r>
          </a:p>
          <a:p>
            <a:endParaRPr sz="1350" b="0">
              <a:solidFill>
                <a:srgbClr val="E2E8F0"/>
              </a:solidFill>
            </a:endParaRP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&lt;video controls width="500"&gt;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&lt;source src="aula.mp4" type="video/mp4"&gt;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Navegador sem suporte a vídeo.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&lt;/video&gt;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08ED162-3C13-470F-954C-01D9D1F5F424}"/>
              </a:ext>
            </a:extLst>
          </p:cNvPr>
          <p:cNvSpPr>
            <a:spLocks noGrp="1"/>
          </p:cNvSpPr>
          <p:nvPr/>
        </p:nvSpPr>
        <p:spPr>
          <a:xfrm>
            <a:off x="5905500" y="4953000"/>
            <a:ext cx="5619750" cy="10001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B77DDF0-134B-4AB3-97A5-A8CC8405FC76}"/>
              </a:ext>
            </a:extLst>
          </p:cNvPr>
          <p:cNvSpPr>
            <a:spLocks noGrp="1"/>
          </p:cNvSpPr>
          <p:nvPr/>
        </p:nvSpPr>
        <p:spPr>
          <a:xfrm>
            <a:off x="6134100" y="5086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DICA DE USO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2F42FE0-04FF-401E-913C-9A0F75A86183}"/>
              </a:ext>
            </a:extLst>
          </p:cNvPr>
          <p:cNvSpPr>
            <a:spLocks noGrp="1"/>
          </p:cNvSpPr>
          <p:nvPr/>
        </p:nvSpPr>
        <p:spPr>
          <a:xfrm>
            <a:off x="6134100" y="53149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Ofereça legendas e alternativas textuais quando o conteúdo exigir acessibilidade.</a:t>
            </a:r>
          </a:p>
        </p:txBody>
      </p:sp>
    </p:spTree>
    <p:extLst>
      <p:ext uri="{BB962C8B-B14F-4D97-AF65-F5344CB8AC3E}">
        <p14:creationId xmlns:p14="http://schemas.microsoft.com/office/powerpoint/2010/main" val="17479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47A8978A-8395-4229-85CE-E6535FB4893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ATRIBUTOS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E2EAD46-6892-4160-8CF9-DFEDD1C03760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Atributos modificam ou complementam uma tag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FF2D3B-E039-4A25-84FC-C15D99367FBF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15DA9F-0DEA-4E05-BC47-18FAA268A3AF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7568131-3BA5-45AF-98FC-B5A97B5E93BF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5048250" cy="36195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AEFA46D-47B3-47AB-A989-32AA2775C0C0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462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D713E02-EC58-485E-8F50-4BCC0AAE3A63}"/>
              </a:ext>
            </a:extLst>
          </p:cNvPr>
          <p:cNvSpPr>
            <a:spLocks noGrp="1"/>
          </p:cNvSpPr>
          <p:nvPr/>
        </p:nvSpPr>
        <p:spPr>
          <a:xfrm>
            <a:off x="876300" y="2085975"/>
            <a:ext cx="46291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&lt;input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type="email"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id="email"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name="email"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class="campo"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placeholder="nome@exemplo.com"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required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&gt;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8F9B58-FB05-492C-AB99-622D42ACA9D8}"/>
              </a:ext>
            </a:extLst>
          </p:cNvPr>
          <p:cNvSpPr>
            <a:spLocks noGrp="1"/>
          </p:cNvSpPr>
          <p:nvPr/>
        </p:nvSpPr>
        <p:spPr>
          <a:xfrm>
            <a:off x="6238875" y="166687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id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C166E29-C1E6-4D26-8AA1-62AB29C590B0}"/>
              </a:ext>
            </a:extLst>
          </p:cNvPr>
          <p:cNvSpPr>
            <a:spLocks noGrp="1"/>
          </p:cNvSpPr>
          <p:nvPr/>
        </p:nvSpPr>
        <p:spPr>
          <a:xfrm>
            <a:off x="8096250" y="166687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identificador único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34396F-4126-42D5-92FF-F76F1B5E2484}"/>
              </a:ext>
            </a:extLst>
          </p:cNvPr>
          <p:cNvSpPr>
            <a:spLocks noGrp="1"/>
          </p:cNvSpPr>
          <p:nvPr/>
        </p:nvSpPr>
        <p:spPr>
          <a:xfrm>
            <a:off x="6191250" y="2181225"/>
            <a:ext cx="50482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5A8A831-FC5B-4E6F-BC9B-FF758282F4DF}"/>
              </a:ext>
            </a:extLst>
          </p:cNvPr>
          <p:cNvSpPr>
            <a:spLocks noGrp="1"/>
          </p:cNvSpPr>
          <p:nvPr/>
        </p:nvSpPr>
        <p:spPr>
          <a:xfrm>
            <a:off x="6238875" y="22669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class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DC19A98-4B94-4AF8-88C1-E9F40CC9414F}"/>
              </a:ext>
            </a:extLst>
          </p:cNvPr>
          <p:cNvSpPr>
            <a:spLocks noGrp="1"/>
          </p:cNvSpPr>
          <p:nvPr/>
        </p:nvSpPr>
        <p:spPr>
          <a:xfrm>
            <a:off x="8096250" y="22669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grupo para CSS/JS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6725A3B-9872-4851-A021-EC39C2E0029D}"/>
              </a:ext>
            </a:extLst>
          </p:cNvPr>
          <p:cNvSpPr>
            <a:spLocks noGrp="1"/>
          </p:cNvSpPr>
          <p:nvPr/>
        </p:nvSpPr>
        <p:spPr>
          <a:xfrm>
            <a:off x="6191250" y="2781300"/>
            <a:ext cx="50482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DA4DC85-02E0-4341-ADA3-CA2B47683909}"/>
              </a:ext>
            </a:extLst>
          </p:cNvPr>
          <p:cNvSpPr>
            <a:spLocks noGrp="1"/>
          </p:cNvSpPr>
          <p:nvPr/>
        </p:nvSpPr>
        <p:spPr>
          <a:xfrm>
            <a:off x="6238875" y="286702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name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466E87A-4109-44F5-9DCF-4A1D516ECB4A}"/>
              </a:ext>
            </a:extLst>
          </p:cNvPr>
          <p:cNvSpPr>
            <a:spLocks noGrp="1"/>
          </p:cNvSpPr>
          <p:nvPr/>
        </p:nvSpPr>
        <p:spPr>
          <a:xfrm>
            <a:off x="8096250" y="286702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nome usado no envio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BDCF87C-19E2-439A-A5C3-CEFDB40468ED}"/>
              </a:ext>
            </a:extLst>
          </p:cNvPr>
          <p:cNvSpPr>
            <a:spLocks noGrp="1"/>
          </p:cNvSpPr>
          <p:nvPr/>
        </p:nvSpPr>
        <p:spPr>
          <a:xfrm>
            <a:off x="6191250" y="3381375"/>
            <a:ext cx="50482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04EE187-A842-4235-B3F0-B8A4F264E38F}"/>
              </a:ext>
            </a:extLst>
          </p:cNvPr>
          <p:cNvSpPr>
            <a:spLocks noGrp="1"/>
          </p:cNvSpPr>
          <p:nvPr/>
        </p:nvSpPr>
        <p:spPr>
          <a:xfrm>
            <a:off x="6238875" y="34671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required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A3262CC-4404-4BF1-813A-584E15AC3F8C}"/>
              </a:ext>
            </a:extLst>
          </p:cNvPr>
          <p:cNvSpPr>
            <a:spLocks noGrp="1"/>
          </p:cNvSpPr>
          <p:nvPr/>
        </p:nvSpPr>
        <p:spPr>
          <a:xfrm>
            <a:off x="8096250" y="34671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campo obrigatório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76029FB-5FAD-4DE1-A53A-D0403E7A3346}"/>
              </a:ext>
            </a:extLst>
          </p:cNvPr>
          <p:cNvSpPr>
            <a:spLocks noGrp="1"/>
          </p:cNvSpPr>
          <p:nvPr/>
        </p:nvSpPr>
        <p:spPr>
          <a:xfrm>
            <a:off x="6191250" y="3981450"/>
            <a:ext cx="50482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584719B-F51B-4591-9616-6C11F298D762}"/>
              </a:ext>
            </a:extLst>
          </p:cNvPr>
          <p:cNvSpPr>
            <a:spLocks noGrp="1"/>
          </p:cNvSpPr>
          <p:nvPr/>
        </p:nvSpPr>
        <p:spPr>
          <a:xfrm>
            <a:off x="6238875" y="406717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placeholder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3EFC5EC-7097-4165-B07E-D46F0712DE67}"/>
              </a:ext>
            </a:extLst>
          </p:cNvPr>
          <p:cNvSpPr>
            <a:spLocks noGrp="1"/>
          </p:cNvSpPr>
          <p:nvPr/>
        </p:nvSpPr>
        <p:spPr>
          <a:xfrm>
            <a:off x="8096250" y="406717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exemplo temporário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BDEDA6B-8E8A-4F34-B6ED-01A1C49F5753}"/>
              </a:ext>
            </a:extLst>
          </p:cNvPr>
          <p:cNvSpPr>
            <a:spLocks noGrp="1"/>
          </p:cNvSpPr>
          <p:nvPr/>
        </p:nvSpPr>
        <p:spPr>
          <a:xfrm>
            <a:off x="6191250" y="4581525"/>
            <a:ext cx="50482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A7286C1-F4F9-4B0C-827E-D3373B2FA77F}"/>
              </a:ext>
            </a:extLst>
          </p:cNvPr>
          <p:cNvSpPr>
            <a:spLocks noGrp="1"/>
          </p:cNvSpPr>
          <p:nvPr/>
        </p:nvSpPr>
        <p:spPr>
          <a:xfrm>
            <a:off x="6238875" y="46672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src / href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3EAFB0F-995A-4FAB-996B-EA8DD9673EC6}"/>
              </a:ext>
            </a:extLst>
          </p:cNvPr>
          <p:cNvSpPr>
            <a:spLocks noGrp="1"/>
          </p:cNvSpPr>
          <p:nvPr/>
        </p:nvSpPr>
        <p:spPr>
          <a:xfrm>
            <a:off x="8096250" y="46672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origem ou destino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146E098-D61B-41CA-9A1B-40490CEA2AB5}"/>
              </a:ext>
            </a:extLst>
          </p:cNvPr>
          <p:cNvSpPr>
            <a:spLocks noGrp="1"/>
          </p:cNvSpPr>
          <p:nvPr/>
        </p:nvSpPr>
        <p:spPr>
          <a:xfrm>
            <a:off x="6191250" y="5181600"/>
            <a:ext cx="50482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932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842A0F53-1C84-4174-9371-0EFDCD1BAFCF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EXERCÍCIOS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01E4721-F418-4644-A971-D060DD24DE7F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Exercício 1 — Reconheça a função das tags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09E6B7-735F-4667-9F30-EDBA7690234A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5A0A2B-2B1C-4490-BA52-E9A13A71B15F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3F01764-8724-4FB1-AC48-D27A2B81EA5B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Observe o código e responda: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F726668-84B0-4864-8760-FCF1B8FEDDDF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334000" cy="28575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0BBD04B-0B81-4D08-8797-05DAC86F7E2F}"/>
              </a:ext>
            </a:extLst>
          </p:cNvPr>
          <p:cNvSpPr>
            <a:spLocks noGrp="1"/>
          </p:cNvSpPr>
          <p:nvPr/>
        </p:nvSpPr>
        <p:spPr>
          <a:xfrm>
            <a:off x="876300" y="2162175"/>
            <a:ext cx="491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B50BE9-92DC-46F7-8B77-A0D68D21F106}"/>
              </a:ext>
            </a:extLst>
          </p:cNvPr>
          <p:cNvSpPr>
            <a:spLocks noGrp="1"/>
          </p:cNvSpPr>
          <p:nvPr/>
        </p:nvSpPr>
        <p:spPr>
          <a:xfrm>
            <a:off x="876300" y="2466975"/>
            <a:ext cx="49149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&lt;article&gt;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&lt;h2&gt;Curso de HTML&lt;/h2&gt;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&lt;p&gt;Aprenda a criar páginas.&lt;/p&gt;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&lt;a href="inscricao.html"&gt;Inscrever-se&lt;/a&gt;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&lt;/article&gt;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67CBD69-40B7-4549-A9AE-B25308E38772}"/>
              </a:ext>
            </a:extLst>
          </p:cNvPr>
          <p:cNvSpPr>
            <a:spLocks noGrp="1"/>
          </p:cNvSpPr>
          <p:nvPr/>
        </p:nvSpPr>
        <p:spPr>
          <a:xfrm>
            <a:off x="6429375" y="1857375"/>
            <a:ext cx="228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BC7B63F-5AA9-46AF-B391-AB97EA5B4380}"/>
              </a:ext>
            </a:extLst>
          </p:cNvPr>
          <p:cNvSpPr>
            <a:spLocks noGrp="1"/>
          </p:cNvSpPr>
          <p:nvPr/>
        </p:nvSpPr>
        <p:spPr>
          <a:xfrm>
            <a:off x="6715125" y="1857375"/>
            <a:ext cx="4524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Qual tag representa o conteúdo independente?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E6D06BE-C0CC-4183-9425-C35109BE3E2F}"/>
              </a:ext>
            </a:extLst>
          </p:cNvPr>
          <p:cNvSpPr>
            <a:spLocks noGrp="1"/>
          </p:cNvSpPr>
          <p:nvPr/>
        </p:nvSpPr>
        <p:spPr>
          <a:xfrm>
            <a:off x="6429375" y="2619375"/>
            <a:ext cx="228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3BFE574-F9A0-4217-A4D7-C4BBEF3FEC05}"/>
              </a:ext>
            </a:extLst>
          </p:cNvPr>
          <p:cNvSpPr>
            <a:spLocks noGrp="1"/>
          </p:cNvSpPr>
          <p:nvPr/>
        </p:nvSpPr>
        <p:spPr>
          <a:xfrm>
            <a:off x="6715125" y="2619375"/>
            <a:ext cx="4524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Qual tag estabelece o título do artigo?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1F8148B-0CD8-4A68-BCEB-DB817E801900}"/>
              </a:ext>
            </a:extLst>
          </p:cNvPr>
          <p:cNvSpPr>
            <a:spLocks noGrp="1"/>
          </p:cNvSpPr>
          <p:nvPr/>
        </p:nvSpPr>
        <p:spPr>
          <a:xfrm>
            <a:off x="6429375" y="3381375"/>
            <a:ext cx="228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8DA538F-2B98-4785-BB16-9B4EC6DA172E}"/>
              </a:ext>
            </a:extLst>
          </p:cNvPr>
          <p:cNvSpPr>
            <a:spLocks noGrp="1"/>
          </p:cNvSpPr>
          <p:nvPr/>
        </p:nvSpPr>
        <p:spPr>
          <a:xfrm>
            <a:off x="6715125" y="3381375"/>
            <a:ext cx="4524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Para onde o link direciona o usuário?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08A578B-E537-4CA8-AEF3-C8F8A3B228B5}"/>
              </a:ext>
            </a:extLst>
          </p:cNvPr>
          <p:cNvSpPr>
            <a:spLocks noGrp="1"/>
          </p:cNvSpPr>
          <p:nvPr/>
        </p:nvSpPr>
        <p:spPr>
          <a:xfrm>
            <a:off x="6429375" y="4143375"/>
            <a:ext cx="228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B74778D-32F1-4C63-8D8A-A52A10675239}"/>
              </a:ext>
            </a:extLst>
          </p:cNvPr>
          <p:cNvSpPr>
            <a:spLocks noGrp="1"/>
          </p:cNvSpPr>
          <p:nvPr/>
        </p:nvSpPr>
        <p:spPr>
          <a:xfrm>
            <a:off x="6715125" y="4143375"/>
            <a:ext cx="4524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Troque o parágrafo por uma lista com três conteúdos.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56171A2-DFF2-432C-B829-E7B584C67E54}"/>
              </a:ext>
            </a:extLst>
          </p:cNvPr>
          <p:cNvSpPr>
            <a:spLocks noGrp="1"/>
          </p:cNvSpPr>
          <p:nvPr/>
        </p:nvSpPr>
        <p:spPr>
          <a:xfrm>
            <a:off x="6429375" y="528637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Entrega: respostas + código modificado.</a:t>
            </a:r>
          </a:p>
        </p:txBody>
      </p:sp>
    </p:spTree>
    <p:extLst>
      <p:ext uri="{BB962C8B-B14F-4D97-AF65-F5344CB8AC3E}">
        <p14:creationId xmlns:p14="http://schemas.microsoft.com/office/powerpoint/2010/main" val="1035275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298D0884-F8A5-4984-8CF5-6CB164D1E2C1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EXERCÍCIOS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775B9AB-AC7B-49E1-9F18-1AA65FC0269E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Exercício 2 — Construa um formulário de cadastro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CC5BA49-7933-42F9-9BE9-E2DBE703EC74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6E8DFB-E8AC-4A69-BF01-BDACF69FCB96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42BB060-FFFB-444D-9E88-46666F623A95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Crie cadastro.html com: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0DE38B-FA0D-4994-A8FF-640DDD477446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CB74558-C28D-415A-BEE0-F3676B83B527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Nome completo — text e required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08D1752-6F8F-48F9-B723-D8623C6D1A84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F63452-9C75-4B35-948A-CFAF77CFFA90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E-mail — email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96498E1-783B-410A-A437-440BFEF664B5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386FA23-5784-4463-BF41-AD25EB6F7F00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Senha — password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D9C53F-CDB1-4CFE-B1D4-5C5A088D0BA1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2AE40AB-598E-493C-932C-4C5B792DFCCC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Data de nascimento — date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53D87B6-E07A-429A-A945-C0AB0E3102BF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1665EF2-21C6-4D88-A1F8-53D01FB05FE2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Curso — select com três opções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451E937-D14F-4ABC-9E57-3878A273BB97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4060051-199A-492B-A644-FB56D84DA5B9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Aceite dos termos — checkbox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FCF8272-F103-4BB0-BFF6-E2E16506A202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C24E165-8D80-40DB-9547-44DBC266728C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Botões Enviar e Limpar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7DE22C9-F478-44B7-A922-7B8819DE0B84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4953000" cy="3429000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5A8B244-882B-48D5-8D2E-73872F3B4BCF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Critérios de verificação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3237051-0FAB-4AF1-9A00-2D8DD8C66092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7C055F3-9342-4043-B991-DFACF50BF9E3}"/>
              </a:ext>
            </a:extLst>
          </p:cNvPr>
          <p:cNvSpPr>
            <a:spLocks noGrp="1"/>
          </p:cNvSpPr>
          <p:nvPr/>
        </p:nvSpPr>
        <p:spPr>
          <a:xfrm>
            <a:off x="6762750" y="238125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Todo campo possui label.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F416DCC-7AC1-48F7-920E-91D29AEC0F99}"/>
              </a:ext>
            </a:extLst>
          </p:cNvPr>
          <p:cNvSpPr>
            <a:spLocks noGrp="1"/>
          </p:cNvSpPr>
          <p:nvPr/>
        </p:nvSpPr>
        <p:spPr>
          <a:xfrm>
            <a:off x="6477000" y="28575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A293DC5-AF9C-41D1-8936-791518CD48F3}"/>
              </a:ext>
            </a:extLst>
          </p:cNvPr>
          <p:cNvSpPr>
            <a:spLocks noGrp="1"/>
          </p:cNvSpPr>
          <p:nvPr/>
        </p:nvSpPr>
        <p:spPr>
          <a:xfrm>
            <a:off x="6762750" y="285750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for e id estão associados.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7074CE9-5D31-4AE4-B8B1-56E86A555B6D}"/>
              </a:ext>
            </a:extLst>
          </p:cNvPr>
          <p:cNvSpPr>
            <a:spLocks noGrp="1"/>
          </p:cNvSpPr>
          <p:nvPr/>
        </p:nvSpPr>
        <p:spPr>
          <a:xfrm>
            <a:off x="6477000" y="33337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0CFF82A-3720-411F-A0A5-ACF4CD0209E5}"/>
              </a:ext>
            </a:extLst>
          </p:cNvPr>
          <p:cNvSpPr>
            <a:spLocks noGrp="1"/>
          </p:cNvSpPr>
          <p:nvPr/>
        </p:nvSpPr>
        <p:spPr>
          <a:xfrm>
            <a:off x="6762750" y="333375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Cada dado possui name.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C30CDC6-FA9A-4E49-BE2C-477B6768531F}"/>
              </a:ext>
            </a:extLst>
          </p:cNvPr>
          <p:cNvSpPr>
            <a:spLocks noGrp="1"/>
          </p:cNvSpPr>
          <p:nvPr/>
        </p:nvSpPr>
        <p:spPr>
          <a:xfrm>
            <a:off x="6477000" y="38100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D6A46AA-BE70-474F-BD46-0C949D3E9862}"/>
              </a:ext>
            </a:extLst>
          </p:cNvPr>
          <p:cNvSpPr>
            <a:spLocks noGrp="1"/>
          </p:cNvSpPr>
          <p:nvPr/>
        </p:nvSpPr>
        <p:spPr>
          <a:xfrm>
            <a:off x="6762750" y="381000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 botão de envio usa submit.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5CE8CE5-2D1D-44E8-BF74-D9D39E46AB93}"/>
              </a:ext>
            </a:extLst>
          </p:cNvPr>
          <p:cNvSpPr>
            <a:spLocks noGrp="1"/>
          </p:cNvSpPr>
          <p:nvPr/>
        </p:nvSpPr>
        <p:spPr>
          <a:xfrm>
            <a:off x="6477000" y="42862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39605D7-23D1-43CE-9587-6D2E5C513359}"/>
              </a:ext>
            </a:extLst>
          </p:cNvPr>
          <p:cNvSpPr>
            <a:spLocks noGrp="1"/>
          </p:cNvSpPr>
          <p:nvPr/>
        </p:nvSpPr>
        <p:spPr>
          <a:xfrm>
            <a:off x="6762750" y="428625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 estrutura está corretamente aninhada.</a:t>
            </a:r>
          </a:p>
        </p:txBody>
      </p:sp>
    </p:spTree>
    <p:extLst>
      <p:ext uri="{BB962C8B-B14F-4D97-AF65-F5344CB8AC3E}">
        <p14:creationId xmlns:p14="http://schemas.microsoft.com/office/powerpoint/2010/main" val="1281247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639F8D16-34AD-4310-90B1-68C8C000BCE4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EXERCÍCIOS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9402E85-7440-4E89-B0CD-7864A8C36F25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Exercício 3 — Reescreva uma página com semântica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CD1B46C-D1A2-4915-A59B-1B6034BA5069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5B795A4-F824-4D5E-99C6-B51CF270BB13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D32606-A7ED-4451-B946-B6F14777B82C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Código inicial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D162CF3-72BA-4F71-9C31-B83F44576DBD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953000" cy="3143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ED38F46-DB74-499F-B9D8-DC7BAA56201B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453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7D5F5"/>
                </a:solidFill>
              </a:defRPr>
            </a:pPr>
            <a:r>
              <a:rPr sz="975" b="1">
                <a:solidFill>
                  <a:srgbClr val="67D5F5"/>
                </a:solidFill>
              </a:rPr>
              <a:t>EXEMPLO HTML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997F151-94A5-4E16-A015-895FBEDE0060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453390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&lt;div class="topo"&gt;...&lt;/div&gt;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&lt;div class="menu"&gt;...&lt;/div&gt;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&lt;div class="principal"&gt;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&lt;div class="noticia"&gt;...&lt;/div&gt;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  &lt;div class="lateral"&gt;...&lt;/div&gt;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&lt;/div&gt;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&lt;div class="rodape"&gt;...&lt;/div&gt;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80CF436-8E85-43F7-9B14-FF90B952E2A5}"/>
              </a:ext>
            </a:extLst>
          </p:cNvPr>
          <p:cNvSpPr>
            <a:spLocks noGrp="1"/>
          </p:cNvSpPr>
          <p:nvPr/>
        </p:nvSpPr>
        <p:spPr>
          <a:xfrm>
            <a:off x="6191250" y="15716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Sua missão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34D15D5-773B-4717-A9C5-FB61276196AF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21D3FA4-0CE5-45E1-ABAB-1CCA4157DF87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466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Substitua as divs por tags semânticas apropriadas.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F10176-79C5-4507-8920-4A0E914323F1}"/>
              </a:ext>
            </a:extLst>
          </p:cNvPr>
          <p:cNvSpPr>
            <a:spLocks noGrp="1"/>
          </p:cNvSpPr>
          <p:nvPr/>
        </p:nvSpPr>
        <p:spPr>
          <a:xfrm>
            <a:off x="6191250" y="266700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2D6497D-ADAE-4AC0-85A5-F437A195AC55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466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Inclua títulos coerentes em cada seção.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A08E956-E427-4763-96A4-F8631F844990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7B13E18-1D56-4990-9E8D-5B49AE38E3CE}"/>
              </a:ext>
            </a:extLst>
          </p:cNvPr>
          <p:cNvSpPr>
            <a:spLocks noGrp="1"/>
          </p:cNvSpPr>
          <p:nvPr/>
        </p:nvSpPr>
        <p:spPr>
          <a:xfrm>
            <a:off x="6477000" y="3333750"/>
            <a:ext cx="466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Explique por que escolheu cada tag.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9D8E059-65D6-4DB6-B8F2-DA144C800E24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6AE6902-4234-40BD-A4EF-EE88AA1D41CB}"/>
              </a:ext>
            </a:extLst>
          </p:cNvPr>
          <p:cNvSpPr>
            <a:spLocks noGrp="1"/>
          </p:cNvSpPr>
          <p:nvPr/>
        </p:nvSpPr>
        <p:spPr>
          <a:xfrm>
            <a:off x="6477000" y="4000500"/>
            <a:ext cx="466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Mantenha div apenas onde não houver alternativa semântica.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10DA64B-A546-42BE-A519-7FF4E476FED7}"/>
              </a:ext>
            </a:extLst>
          </p:cNvPr>
          <p:cNvSpPr>
            <a:spLocks noGrp="1"/>
          </p:cNvSpPr>
          <p:nvPr/>
        </p:nvSpPr>
        <p:spPr>
          <a:xfrm>
            <a:off x="6191250" y="50482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Sugestões: header, nav, main, article, aside e footer.</a:t>
            </a:r>
          </a:p>
        </p:txBody>
      </p:sp>
    </p:spTree>
    <p:extLst>
      <p:ext uri="{BB962C8B-B14F-4D97-AF65-F5344CB8AC3E}">
        <p14:creationId xmlns:p14="http://schemas.microsoft.com/office/powerpoint/2010/main" val="1945003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662A7D11-8B57-4D24-9283-8939CCC5C1C6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DESAFIO INTEGRADOR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FC406CA-7771-44AB-A355-3FB64AF82926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Projeto final — Portal pessoal em uma única página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558973B-FB6E-43AB-8796-13770FD782D5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F02FA33-9586-407F-BE40-02128EC61A52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0E693C-0B5F-4DF6-8C0D-B8DBE5555E9A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Construa um portal que reúna todos os conceitos da aula.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BCA1686-499E-456A-A478-7F408D35766C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3048000" cy="2571750"/>
          </a:xfrm>
          <a:prstGeom prst="rect">
            <a:avLst/>
          </a:prstGeom>
          <a:solidFill>
            <a:srgbClr val="F1F5F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4DFD13A-4A48-4577-BE99-94F4B934CC98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Estrutura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FEA7B73-38DE-4F8C-9B1D-28C03F0F680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62CE19E-9421-4843-BC83-54440BD2188E}"/>
              </a:ext>
            </a:extLst>
          </p:cNvPr>
          <p:cNvSpPr>
            <a:spLocks noGrp="1"/>
          </p:cNvSpPr>
          <p:nvPr/>
        </p:nvSpPr>
        <p:spPr>
          <a:xfrm>
            <a:off x="1181100" y="28575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DOCTYPE, html, head e body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CF5D48-F7FC-4E01-A32B-F967D0B82195}"/>
              </a:ext>
            </a:extLst>
          </p:cNvPr>
          <p:cNvSpPr>
            <a:spLocks noGrp="1"/>
          </p:cNvSpPr>
          <p:nvPr/>
        </p:nvSpPr>
        <p:spPr>
          <a:xfrm>
            <a:off x="895350" y="33337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DBE7CD-0624-4939-BD66-2C0E5466AA64}"/>
              </a:ext>
            </a:extLst>
          </p:cNvPr>
          <p:cNvSpPr>
            <a:spLocks noGrp="1"/>
          </p:cNvSpPr>
          <p:nvPr/>
        </p:nvSpPr>
        <p:spPr>
          <a:xfrm>
            <a:off x="1181100" y="33337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header, nav, main e footer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A15A5D2-B71B-4478-A54E-694E67C4C26A}"/>
              </a:ext>
            </a:extLst>
          </p:cNvPr>
          <p:cNvSpPr>
            <a:spLocks noGrp="1"/>
          </p:cNvSpPr>
          <p:nvPr/>
        </p:nvSpPr>
        <p:spPr>
          <a:xfrm>
            <a:off x="895350" y="38100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66A7DF7-4162-4479-A1F1-00BC05D3227D}"/>
              </a:ext>
            </a:extLst>
          </p:cNvPr>
          <p:cNvSpPr>
            <a:spLocks noGrp="1"/>
          </p:cNvSpPr>
          <p:nvPr/>
        </p:nvSpPr>
        <p:spPr>
          <a:xfrm>
            <a:off x="1181100" y="38100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section, article e aside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2BD8E77-096C-47F9-ABD5-483B93AF4C1F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3048000" cy="2571750"/>
          </a:xfrm>
          <a:prstGeom prst="rect">
            <a:avLst/>
          </a:prstGeom>
          <a:solidFill>
            <a:srgbClr val="F1F5F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E4C5B0F-DDE1-43E1-856E-2412DD2DDD8A}"/>
              </a:ext>
            </a:extLst>
          </p:cNvPr>
          <p:cNvSpPr>
            <a:spLocks noGrp="1"/>
          </p:cNvSpPr>
          <p:nvPr/>
        </p:nvSpPr>
        <p:spPr>
          <a:xfrm>
            <a:off x="4324350" y="233362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Conteúdo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7266B8D-68B3-41FB-8900-092A57DB85D3}"/>
              </a:ext>
            </a:extLst>
          </p:cNvPr>
          <p:cNvSpPr>
            <a:spLocks noGrp="1"/>
          </p:cNvSpPr>
          <p:nvPr/>
        </p:nvSpPr>
        <p:spPr>
          <a:xfrm>
            <a:off x="4324350" y="28575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A93E221-737A-42E2-953C-39DE13B2275C}"/>
              </a:ext>
            </a:extLst>
          </p:cNvPr>
          <p:cNvSpPr>
            <a:spLocks noGrp="1"/>
          </p:cNvSpPr>
          <p:nvPr/>
        </p:nvSpPr>
        <p:spPr>
          <a:xfrm>
            <a:off x="4610100" y="28575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Títulos e parágrafos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4438CEC-D8F1-448D-83DD-8A703CB4EE6D}"/>
              </a:ext>
            </a:extLst>
          </p:cNvPr>
          <p:cNvSpPr>
            <a:spLocks noGrp="1"/>
          </p:cNvSpPr>
          <p:nvPr/>
        </p:nvSpPr>
        <p:spPr>
          <a:xfrm>
            <a:off x="4324350" y="33337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BEB82AA-8D9A-43C2-A664-C01F9328A2C4}"/>
              </a:ext>
            </a:extLst>
          </p:cNvPr>
          <p:cNvSpPr>
            <a:spLocks noGrp="1"/>
          </p:cNvSpPr>
          <p:nvPr/>
        </p:nvSpPr>
        <p:spPr>
          <a:xfrm>
            <a:off x="4610100" y="33337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Imagem com alt e legenda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23E321F-C734-4DBF-AE45-97C2D0424F74}"/>
              </a:ext>
            </a:extLst>
          </p:cNvPr>
          <p:cNvSpPr>
            <a:spLocks noGrp="1"/>
          </p:cNvSpPr>
          <p:nvPr/>
        </p:nvSpPr>
        <p:spPr>
          <a:xfrm>
            <a:off x="4324350" y="38100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C997A62-39DA-47C2-875D-F0D16DF73A5A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Listas, link e tabela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518D5AB-29A1-4154-BD39-4B32DC1BA29D}"/>
              </a:ext>
            </a:extLst>
          </p:cNvPr>
          <p:cNvSpPr>
            <a:spLocks noGrp="1"/>
          </p:cNvSpPr>
          <p:nvPr/>
        </p:nvSpPr>
        <p:spPr>
          <a:xfrm>
            <a:off x="7524750" y="2143125"/>
            <a:ext cx="3048000" cy="2571750"/>
          </a:xfrm>
          <a:prstGeom prst="rect">
            <a:avLst/>
          </a:prstGeom>
          <a:solidFill>
            <a:srgbClr val="F1F5F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467D250-5D98-44F9-80D2-AD265BE66327}"/>
              </a:ext>
            </a:extLst>
          </p:cNvPr>
          <p:cNvSpPr>
            <a:spLocks noGrp="1"/>
          </p:cNvSpPr>
          <p:nvPr/>
        </p:nvSpPr>
        <p:spPr>
          <a:xfrm>
            <a:off x="7753350" y="233362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Interação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6F86008-2A8B-4455-9E90-068B382C6C5E}"/>
              </a:ext>
            </a:extLst>
          </p:cNvPr>
          <p:cNvSpPr>
            <a:spLocks noGrp="1"/>
          </p:cNvSpPr>
          <p:nvPr/>
        </p:nvSpPr>
        <p:spPr>
          <a:xfrm>
            <a:off x="7753350" y="28575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09AF93D-A463-493A-8F78-5CCE28DF531D}"/>
              </a:ext>
            </a:extLst>
          </p:cNvPr>
          <p:cNvSpPr>
            <a:spLocks noGrp="1"/>
          </p:cNvSpPr>
          <p:nvPr/>
        </p:nvSpPr>
        <p:spPr>
          <a:xfrm>
            <a:off x="8039100" y="28575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Formulário com labels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4C1D9E4-B114-4007-A96B-FF2D5B41D59E}"/>
              </a:ext>
            </a:extLst>
          </p:cNvPr>
          <p:cNvSpPr>
            <a:spLocks noGrp="1"/>
          </p:cNvSpPr>
          <p:nvPr/>
        </p:nvSpPr>
        <p:spPr>
          <a:xfrm>
            <a:off x="7753350" y="333375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2F659FC-35BF-447B-88B3-F96CCCAA9D43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Tipos corretos de input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7D8D148-201E-41F0-A1FE-4D2BE7F904FF}"/>
              </a:ext>
            </a:extLst>
          </p:cNvPr>
          <p:cNvSpPr>
            <a:spLocks noGrp="1"/>
          </p:cNvSpPr>
          <p:nvPr/>
        </p:nvSpPr>
        <p:spPr>
          <a:xfrm>
            <a:off x="7753350" y="3810000"/>
            <a:ext cx="228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8A56CAC-7BCA-4B88-AF41-774C5832D09A}"/>
              </a:ext>
            </a:extLst>
          </p:cNvPr>
          <p:cNvSpPr>
            <a:spLocks noGrp="1"/>
          </p:cNvSpPr>
          <p:nvPr/>
        </p:nvSpPr>
        <p:spPr>
          <a:xfrm>
            <a:off x="8039100" y="38100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textarea, select e botões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F862586-FACD-4253-881B-22486AAB6309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9906000" cy="809625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539F037-72C7-4FF5-9197-997B465D92C1}"/>
              </a:ext>
            </a:extLst>
          </p:cNvPr>
          <p:cNvSpPr>
            <a:spLocks noGrp="1"/>
          </p:cNvSpPr>
          <p:nvPr/>
        </p:nvSpPr>
        <p:spPr>
          <a:xfrm>
            <a:off x="895350" y="51625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Entrega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B206FE0-0AB2-42F4-85D9-ACE4D60357E4}"/>
              </a:ext>
            </a:extLst>
          </p:cNvPr>
          <p:cNvSpPr>
            <a:spLocks noGrp="1"/>
          </p:cNvSpPr>
          <p:nvPr/>
        </p:nvSpPr>
        <p:spPr>
          <a:xfrm>
            <a:off x="895350" y="5410200"/>
            <a:ext cx="923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index.html organizado, indentado e aberto no navegador para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901410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5771BFDC-2A8C-4FAA-89CB-FDF8577A4ACB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HTML • SÍNTESE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3EB5B7-65E7-4D0D-BC05-8D3FFD37D3C9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Checklist antes de entregar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CA40E71-FF4E-4A9F-B580-00676F003AFB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9E7E803-AB9C-4EDC-AF33-1544621C74E7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8535365-1FD0-4F05-862D-B202A025CC01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61950" cy="361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71B82F1-EC1E-4E9A-9629-4FC83F185B6C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93F45D3-D51F-40F7-8BD4-BF0ACAFD3CAD}"/>
              </a:ext>
            </a:extLst>
          </p:cNvPr>
          <p:cNvSpPr>
            <a:spLocks noGrp="1"/>
          </p:cNvSpPr>
          <p:nvPr/>
        </p:nvSpPr>
        <p:spPr>
          <a:xfrm>
            <a:off x="1295400" y="15811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 documento possui estrutura HTML5 completa.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FBD6FDB-C03B-4458-92E2-611B5B734772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61950" cy="361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F3164DF-1E3C-440D-BC3A-E0D10F0F12B9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74C5E07-A565-4066-A98A-A96497794011}"/>
              </a:ext>
            </a:extLst>
          </p:cNvPr>
          <p:cNvSpPr>
            <a:spLocks noGrp="1"/>
          </p:cNvSpPr>
          <p:nvPr/>
        </p:nvSpPr>
        <p:spPr>
          <a:xfrm>
            <a:off x="1295400" y="25336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Os títulos respeitam uma hierarquia lógica.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FBA2320-DE0C-4575-B4F0-85CFE9C96DF9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361950" cy="361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0837A85-8D07-4F2A-BAA7-42C2AFE3D9F3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B988792-DC21-4723-B922-EFDFB616C994}"/>
              </a:ext>
            </a:extLst>
          </p:cNvPr>
          <p:cNvSpPr>
            <a:spLocks noGrp="1"/>
          </p:cNvSpPr>
          <p:nvPr/>
        </p:nvSpPr>
        <p:spPr>
          <a:xfrm>
            <a:off x="1295400" y="34861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Imagens possuem texto alternativo significativo.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8F7265F-EF30-4EFB-AE31-BB25A17AFC96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361950" cy="361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04ABC2-63C4-4313-B3AD-DEAEC35A33E7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50BA0E4-5E91-4979-ABBD-608EDA2F363D}"/>
              </a:ext>
            </a:extLst>
          </p:cNvPr>
          <p:cNvSpPr>
            <a:spLocks noGrp="1"/>
          </p:cNvSpPr>
          <p:nvPr/>
        </p:nvSpPr>
        <p:spPr>
          <a:xfrm>
            <a:off x="1295400" y="44386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Links explicam claramente seu destino.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3A0BBF8-8FC7-4A70-BFDB-8AC366782688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361950" cy="361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A34A253-4848-489D-905F-89D23EC593C0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405E7C8-915A-4551-A771-F4A2103A8E92}"/>
              </a:ext>
            </a:extLst>
          </p:cNvPr>
          <p:cNvSpPr>
            <a:spLocks noGrp="1"/>
          </p:cNvSpPr>
          <p:nvPr/>
        </p:nvSpPr>
        <p:spPr>
          <a:xfrm>
            <a:off x="6629400" y="15811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Formulários têm labels associados aos campos.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0FCCE0D-F269-46E0-9FB1-4E982D9282CA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361950" cy="361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2124042-EBE8-40AF-95B7-6629620D5D43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D6C315F-F2FF-4246-88EE-FF6A80915693}"/>
              </a:ext>
            </a:extLst>
          </p:cNvPr>
          <p:cNvSpPr>
            <a:spLocks noGrp="1"/>
          </p:cNvSpPr>
          <p:nvPr/>
        </p:nvSpPr>
        <p:spPr>
          <a:xfrm>
            <a:off x="6629400" y="25336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As regiões principais usam tags semânticas.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24177AA-4906-4586-9B35-8E3D4FBF0A4A}"/>
              </a:ext>
            </a:extLst>
          </p:cNvPr>
          <p:cNvSpPr>
            <a:spLocks noGrp="1"/>
          </p:cNvSpPr>
          <p:nvPr/>
        </p:nvSpPr>
        <p:spPr>
          <a:xfrm>
            <a:off x="6096000" y="3524250"/>
            <a:ext cx="361950" cy="361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E7A32EB-2391-4F51-AA60-39BE07028FAE}"/>
              </a:ext>
            </a:extLst>
          </p:cNvPr>
          <p:cNvSpPr>
            <a:spLocks noGrp="1"/>
          </p:cNvSpPr>
          <p:nvPr/>
        </p:nvSpPr>
        <p:spPr>
          <a:xfrm>
            <a:off x="6096000" y="35242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F619062-B06E-49CB-BF28-553CFFB80C90}"/>
              </a:ext>
            </a:extLst>
          </p:cNvPr>
          <p:cNvSpPr>
            <a:spLocks noGrp="1"/>
          </p:cNvSpPr>
          <p:nvPr/>
        </p:nvSpPr>
        <p:spPr>
          <a:xfrm>
            <a:off x="6629400" y="34861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As tags estão fechadas e corretamente aninhadas.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1D7A62C-393E-4194-9A10-8A93840A3318}"/>
              </a:ext>
            </a:extLst>
          </p:cNvPr>
          <p:cNvSpPr>
            <a:spLocks noGrp="1"/>
          </p:cNvSpPr>
          <p:nvPr/>
        </p:nvSpPr>
        <p:spPr>
          <a:xfrm>
            <a:off x="6096000" y="4476750"/>
            <a:ext cx="361950" cy="361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80C0FF8-6DFA-4CDB-8235-6B5AE6B41DFD}"/>
              </a:ext>
            </a:extLst>
          </p:cNvPr>
          <p:cNvSpPr>
            <a:spLocks noGrp="1"/>
          </p:cNvSpPr>
          <p:nvPr/>
        </p:nvSpPr>
        <p:spPr>
          <a:xfrm>
            <a:off x="6096000" y="44767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32EA2E2-1C67-4BD8-9804-7428D7EEAD2F}"/>
              </a:ext>
            </a:extLst>
          </p:cNvPr>
          <p:cNvSpPr>
            <a:spLocks noGrp="1"/>
          </p:cNvSpPr>
          <p:nvPr/>
        </p:nvSpPr>
        <p:spPr>
          <a:xfrm>
            <a:off x="6629400" y="44386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 código está indentado e legível.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4DE7DCA-FE3D-463B-8F2F-3509C2E91295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059669"/>
                </a:solidFill>
              </a:defRPr>
            </a:pPr>
            <a:r>
              <a:rPr sz="1725" b="1">
                <a:solidFill>
                  <a:srgbClr val="059669"/>
                </a:solidFill>
              </a:rPr>
              <a:t>Resultado esperado: uma página compreensível para pessoas e navegadores.</a:t>
            </a:r>
          </a:p>
        </p:txBody>
      </p:sp>
    </p:spTree>
    <p:extLst>
      <p:ext uri="{BB962C8B-B14F-4D97-AF65-F5344CB8AC3E}">
        <p14:creationId xmlns:p14="http://schemas.microsoft.com/office/powerpoint/2010/main" val="15810516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3514</Words>
  <Application>Microsoft Office PowerPoint</Application>
  <DocSecurity>0</DocSecurity>
  <PresentationFormat>Widescreen</PresentationFormat>
  <Paragraphs>654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2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Celso Barreto Da Silva</cp:lastModifiedBy>
  <cp:revision>1</cp:revision>
  <dcterms:created xsi:type="dcterms:W3CDTF">2026-08-17T13:28:21Z</dcterms:created>
  <dcterms:modified xsi:type="dcterms:W3CDTF">2026-08-19T14:20:45Z</dcterms:modified>
</cp:coreProperties>
</file>